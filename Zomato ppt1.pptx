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3" r:id="rId2"/>
    <p:sldId id="274" r:id="rId3"/>
    <p:sldId id="275" r:id="rId4"/>
    <p:sldId id="256" r:id="rId5"/>
    <p:sldId id="257" r:id="rId6"/>
    <p:sldId id="258" r:id="rId7"/>
    <p:sldId id="270" r:id="rId8"/>
    <p:sldId id="259" r:id="rId9"/>
    <p:sldId id="260" r:id="rId10"/>
    <p:sldId id="261" r:id="rId11"/>
    <p:sldId id="262" r:id="rId12"/>
    <p:sldId id="263" r:id="rId13"/>
    <p:sldId id="264" r:id="rId14"/>
    <p:sldId id="265" r:id="rId15"/>
    <p:sldId id="266" r:id="rId16"/>
    <p:sldId id="267" r:id="rId17"/>
    <p:sldId id="268" r:id="rId18"/>
    <p:sldId id="269" r:id="rId19"/>
    <p:sldId id="271" r:id="rId2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C84F2BB-C492-4E68-B83A-145C5DF24774}">
          <p14:sldIdLst/>
        </p14:section>
        <p14:section name="Untitled Section" id="{91BF7CB6-2377-450B-AB52-EF682859CD16}">
          <p14:sldIdLst>
            <p14:sldId id="273"/>
            <p14:sldId id="274"/>
            <p14:sldId id="275"/>
            <p14:sldId id="256"/>
            <p14:sldId id="257"/>
            <p14:sldId id="258"/>
            <p14:sldId id="270"/>
            <p14:sldId id="259"/>
            <p14:sldId id="260"/>
            <p14:sldId id="261"/>
            <p14:sldId id="262"/>
            <p14:sldId id="263"/>
            <p14:sldId id="264"/>
            <p14:sldId id="265"/>
            <p14:sldId id="266"/>
            <p14:sldId id="267"/>
            <p14:sldId id="268"/>
          </p14:sldIdLst>
        </p14:section>
        <p14:section name="Untitled Section" id="{A8FC953F-F731-4F5B-B095-FC52AFEF569E}">
          <p14:sldIdLst>
            <p14:sldId id="269"/>
            <p14:sldId id="271"/>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7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660"/>
  </p:normalViewPr>
  <p:slideViewPr>
    <p:cSldViewPr>
      <p:cViewPr varScale="1">
        <p:scale>
          <a:sx n="81" d="100"/>
          <a:sy n="81" d="100"/>
        </p:scale>
        <p:origin x="1176" y="53"/>
      </p:cViewPr>
      <p:guideLst>
        <p:guide orient="horz" pos="2160"/>
        <p:guide pos="3839"/>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man\Downloads\PROJECT\NEW%2017092026\Template%20(Zomato).xlsx"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oleObject" Target="file:///C:\Users\Aman\Downloads\Template%20(Zomato)%20(2).xlsx" TargetMode="Externa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oleObject" Target="file:///C:\Users\Aman\Downloads\PROJECT\NEW%2017092026\Template%20(Zomato).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Aman\Downloads\PROJECT\NEW%2017092026\Template%20(Zomato).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9.xml.rels><?xml version="1.0" encoding="UTF-8" standalone="yes"?>
<Relationships xmlns="http://schemas.openxmlformats.org/package/2006/relationships"><Relationship Id="rId1" Type="http://schemas.openxmlformats.org/officeDocument/2006/relationships/oleObject" Target="file:///C:\Users\Aman\Downloads\PROJECT\NEW%2017092026\Template%20(Zomato).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Aman\Downloads\PROJECT\NEW%2017092026\Template%20(Zomat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(Zomato).xlsx]Q-6 I Objective!PivotTable1</c:name>
    <c:fmtId val="14"/>
  </c:pivotSource>
  <c:chart>
    <c:title>
      <c:tx>
        <c:rich>
          <a:bodyPr/>
          <a:lstStyle/>
          <a:p>
            <a:pPr>
              <a:defRPr baseline="0"/>
            </a:pPr>
            <a:r>
              <a:rPr lang="en-US" sz="1800" b="1" i="0" baseline="0">
                <a:effectLst/>
              </a:rPr>
              <a:t>No of Restuarant Country Wise</a:t>
            </a:r>
            <a:endParaRPr lang="en-US" baseline="0">
              <a:effectLst/>
            </a:endParaRPr>
          </a:p>
        </c:rich>
      </c:tx>
      <c:layout>
        <c:manualLayout>
          <c:xMode val="edge"/>
          <c:yMode val="edge"/>
          <c:x val="0.12797922134733158"/>
          <c:y val="1.8518518518518517E-2"/>
        </c:manualLayout>
      </c:layout>
      <c:overlay val="0"/>
    </c:title>
    <c:autoTitleDeleted val="0"/>
    <c:pivotFmts>
      <c:pivotFmt>
        <c:idx val="0"/>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'Q-6 I Objective'!$C$7</c:f>
              <c:strCache>
                <c:ptCount val="1"/>
                <c:pt idx="0">
                  <c:v>Total</c:v>
                </c:pt>
              </c:strCache>
            </c:strRef>
          </c:tx>
          <c:invertIfNegative val="0"/>
          <c:dLbls>
            <c:spPr>
              <a:noFill/>
              <a:ln>
                <a:noFill/>
              </a:ln>
              <a:effectLst/>
            </c:spPr>
            <c:txPr>
              <a:bodyPr/>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'Q-6 I Objective'!$B$8:$B$23</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'Q-6 I Objective'!$C$8:$C$23</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extLst>
            <c:ext xmlns:c16="http://schemas.microsoft.com/office/drawing/2014/chart" uri="{C3380CC4-5D6E-409C-BE32-E72D297353CC}">
              <c16:uniqueId val="{00000000-38C8-494F-A6E8-F3CE80B87F9A}"/>
            </c:ext>
          </c:extLst>
        </c:ser>
        <c:dLbls>
          <c:showLegendKey val="0"/>
          <c:showVal val="0"/>
          <c:showCatName val="0"/>
          <c:showSerName val="0"/>
          <c:showPercent val="0"/>
          <c:showBubbleSize val="0"/>
        </c:dLbls>
        <c:gapWidth val="150"/>
        <c:axId val="255950848"/>
        <c:axId val="255952384"/>
      </c:barChart>
      <c:catAx>
        <c:axId val="255950848"/>
        <c:scaling>
          <c:orientation val="minMax"/>
        </c:scaling>
        <c:delete val="0"/>
        <c:axPos val="b"/>
        <c:numFmt formatCode="General" sourceLinked="0"/>
        <c:majorTickMark val="out"/>
        <c:minorTickMark val="none"/>
        <c:tickLblPos val="nextTo"/>
        <c:crossAx val="255952384"/>
        <c:crosses val="autoZero"/>
        <c:auto val="1"/>
        <c:lblAlgn val="ctr"/>
        <c:lblOffset val="100"/>
        <c:noMultiLvlLbl val="0"/>
      </c:catAx>
      <c:valAx>
        <c:axId val="255952384"/>
        <c:scaling>
          <c:orientation val="minMax"/>
        </c:scaling>
        <c:delete val="0"/>
        <c:axPos val="l"/>
        <c:majorGridlines>
          <c:spPr>
            <a:ln>
              <a:noFill/>
            </a:ln>
          </c:spPr>
        </c:majorGridlines>
        <c:numFmt formatCode="General" sourceLinked="1"/>
        <c:majorTickMark val="out"/>
        <c:minorTickMark val="none"/>
        <c:tickLblPos val="nextTo"/>
        <c:crossAx val="255950848"/>
        <c:crosses val="autoZero"/>
        <c:crossBetween val="between"/>
      </c:valAx>
    </c:plotArea>
    <c:plotVisOnly val="1"/>
    <c:dispBlanksAs val="gap"/>
    <c:showDLblsOverMax val="0"/>
  </c:chart>
  <c:externalData r:id="rId1">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Restaurants</c:v>
                </c:pt>
              </c:strCache>
            </c:strRef>
          </c:tx>
          <c:spPr>
            <a:solidFill>
              <a:srgbClr val="9AA0A6"/>
            </a:solidFill>
            <a:effectLst/>
          </c:spPr>
          <c:invertIfNegative val="0"/>
          <c:dPt>
            <c:idx val="0"/>
            <c:invertIfNegative val="0"/>
            <c:bubble3D val="0"/>
            <c:extLst>
              <c:ext xmlns:c16="http://schemas.microsoft.com/office/drawing/2014/chart" uri="{C3380CC4-5D6E-409C-BE32-E72D297353CC}">
                <c16:uniqueId val="{00000000-2DEB-44DA-8581-620C58C1AF03}"/>
              </c:ext>
            </c:extLst>
          </c:dPt>
          <c:dPt>
            <c:idx val="1"/>
            <c:invertIfNegative val="0"/>
            <c:bubble3D val="0"/>
            <c:spPr>
              <a:solidFill>
                <a:srgbClr val="F4B942"/>
              </a:solidFill>
              <a:effectLst/>
            </c:spPr>
            <c:extLst>
              <c:ext xmlns:c16="http://schemas.microsoft.com/office/drawing/2014/chart" uri="{C3380CC4-5D6E-409C-BE32-E72D297353CC}">
                <c16:uniqueId val="{00000002-2DEB-44DA-8581-620C58C1AF03}"/>
              </c:ext>
            </c:extLst>
          </c:dPt>
          <c:dPt>
            <c:idx val="2"/>
            <c:invertIfNegative val="0"/>
            <c:bubble3D val="0"/>
            <c:extLst>
              <c:ext xmlns:c16="http://schemas.microsoft.com/office/drawing/2014/chart" uri="{C3380CC4-5D6E-409C-BE32-E72D297353CC}">
                <c16:uniqueId val="{00000003-2DEB-44DA-8581-620C58C1AF03}"/>
              </c:ext>
            </c:extLst>
          </c:dPt>
          <c:dPt>
            <c:idx val="3"/>
            <c:invertIfNegative val="0"/>
            <c:bubble3D val="0"/>
            <c:extLst>
              <c:ext xmlns:c16="http://schemas.microsoft.com/office/drawing/2014/chart" uri="{C3380CC4-5D6E-409C-BE32-E72D297353CC}">
                <c16:uniqueId val="{00000004-2DEB-44DA-8581-620C58C1AF03}"/>
              </c:ext>
            </c:extLst>
          </c:dPt>
          <c:dPt>
            <c:idx val="4"/>
            <c:invertIfNegative val="0"/>
            <c:bubble3D val="0"/>
            <c:extLst>
              <c:ext xmlns:c16="http://schemas.microsoft.com/office/drawing/2014/chart" uri="{C3380CC4-5D6E-409C-BE32-E72D297353CC}">
                <c16:uniqueId val="{00000005-2DEB-44DA-8581-620C58C1AF03}"/>
              </c:ext>
            </c:extLst>
          </c:dPt>
          <c:dPt>
            <c:idx val="5"/>
            <c:invertIfNegative val="0"/>
            <c:bubble3D val="0"/>
            <c:extLst>
              <c:ext xmlns:c16="http://schemas.microsoft.com/office/drawing/2014/chart" uri="{C3380CC4-5D6E-409C-BE32-E72D297353CC}">
                <c16:uniqueId val="{00000006-2DEB-44DA-8581-620C58C1AF03}"/>
              </c:ext>
            </c:extLst>
          </c:dPt>
          <c:dPt>
            <c:idx val="6"/>
            <c:invertIfNegative val="0"/>
            <c:bubble3D val="0"/>
            <c:extLst>
              <c:ext xmlns:c16="http://schemas.microsoft.com/office/drawing/2014/chart" uri="{C3380CC4-5D6E-409C-BE32-E72D297353CC}">
                <c16:uniqueId val="{00000007-2DEB-44DA-8581-620C58C1AF03}"/>
              </c:ext>
            </c:extLst>
          </c:dPt>
          <c:dPt>
            <c:idx val="7"/>
            <c:invertIfNegative val="0"/>
            <c:bubble3D val="0"/>
            <c:spPr>
              <a:solidFill>
                <a:srgbClr val="F4B942"/>
              </a:solidFill>
              <a:effectLst/>
            </c:spPr>
            <c:extLst>
              <c:ext xmlns:c16="http://schemas.microsoft.com/office/drawing/2014/chart" uri="{C3380CC4-5D6E-409C-BE32-E72D297353CC}">
                <c16:uniqueId val="{00000009-2DEB-44DA-8581-620C58C1AF03}"/>
              </c:ext>
            </c:extLst>
          </c:dPt>
          <c:dPt>
            <c:idx val="8"/>
            <c:invertIfNegative val="0"/>
            <c:bubble3D val="0"/>
            <c:spPr>
              <a:solidFill>
                <a:srgbClr val="F4B942"/>
              </a:solidFill>
              <a:effectLst/>
            </c:spPr>
            <c:extLst>
              <c:ext xmlns:c16="http://schemas.microsoft.com/office/drawing/2014/chart" uri="{C3380CC4-5D6E-409C-BE32-E72D297353CC}">
                <c16:uniqueId val="{0000000B-2DEB-44DA-8581-620C58C1AF03}"/>
              </c:ext>
            </c:extLst>
          </c:dPt>
          <c:dPt>
            <c:idx val="9"/>
            <c:invertIfNegative val="0"/>
            <c:bubble3D val="0"/>
            <c:extLst>
              <c:ext xmlns:c16="http://schemas.microsoft.com/office/drawing/2014/chart" uri="{C3380CC4-5D6E-409C-BE32-E72D297353CC}">
                <c16:uniqueId val="{0000000C-2DEB-44DA-8581-620C58C1AF03}"/>
              </c:ext>
            </c:extLst>
          </c:dPt>
          <c:dPt>
            <c:idx val="10"/>
            <c:invertIfNegative val="0"/>
            <c:bubble3D val="0"/>
            <c:extLst>
              <c:ext xmlns:c16="http://schemas.microsoft.com/office/drawing/2014/chart" uri="{C3380CC4-5D6E-409C-BE32-E72D297353CC}">
                <c16:uniqueId val="{0000000D-2DEB-44DA-8581-620C58C1AF03}"/>
              </c:ext>
            </c:extLst>
          </c:dPt>
          <c:dPt>
            <c:idx val="11"/>
            <c:invertIfNegative val="0"/>
            <c:bubble3D val="0"/>
            <c:extLst>
              <c:ext xmlns:c16="http://schemas.microsoft.com/office/drawing/2014/chart" uri="{C3380CC4-5D6E-409C-BE32-E72D297353CC}">
                <c16:uniqueId val="{0000000E-2DEB-44DA-8581-620C58C1AF03}"/>
              </c:ext>
            </c:extLst>
          </c:dPt>
          <c:dPt>
            <c:idx val="12"/>
            <c:invertIfNegative val="0"/>
            <c:bubble3D val="0"/>
            <c:extLst>
              <c:ext xmlns:c16="http://schemas.microsoft.com/office/drawing/2014/chart" uri="{C3380CC4-5D6E-409C-BE32-E72D297353CC}">
                <c16:uniqueId val="{0000000F-2DEB-44DA-8581-620C58C1AF03}"/>
              </c:ext>
            </c:extLst>
          </c:dPt>
          <c:dPt>
            <c:idx val="13"/>
            <c:invertIfNegative val="0"/>
            <c:bubble3D val="0"/>
            <c:extLst>
              <c:ext xmlns:c16="http://schemas.microsoft.com/office/drawing/2014/chart" uri="{C3380CC4-5D6E-409C-BE32-E72D297353CC}">
                <c16:uniqueId val="{00000010-2DEB-44DA-8581-620C58C1AF03}"/>
              </c:ext>
            </c:extLst>
          </c:dPt>
          <c:dLbls>
            <c:numFmt formatCode="#,##0" sourceLinked="0"/>
            <c:spPr>
              <a:noFill/>
              <a:ln>
                <a:noFill/>
              </a:ln>
              <a:effectLst/>
            </c:spPr>
            <c:txPr>
              <a:bodyPr/>
              <a:lstStyle/>
              <a:p>
                <a:pPr>
                  <a:defRPr sz="10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Canada</c:v>
                </c:pt>
                <c:pt idx="1">
                  <c:v>Qatar</c:v>
                </c:pt>
                <c:pt idx="2">
                  <c:v>Singapore</c:v>
                </c:pt>
                <c:pt idx="3">
                  <c:v>Sri Lanka</c:v>
                </c:pt>
                <c:pt idx="4">
                  <c:v>Indonesia</c:v>
                </c:pt>
                <c:pt idx="5">
                  <c:v>Philippines</c:v>
                </c:pt>
                <c:pt idx="6">
                  <c:v>Australia</c:v>
                </c:pt>
                <c:pt idx="7">
                  <c:v>Turkey</c:v>
                </c:pt>
                <c:pt idx="8">
                  <c:v>New Zealand</c:v>
                </c:pt>
                <c:pt idx="9">
                  <c:v>Brazil</c:v>
                </c:pt>
                <c:pt idx="10">
                  <c:v>South Africa</c:v>
                </c:pt>
                <c:pt idx="11">
                  <c:v>UAE</c:v>
                </c:pt>
                <c:pt idx="12">
                  <c:v>UK</c:v>
                </c:pt>
                <c:pt idx="13">
                  <c:v>USA</c:v>
                </c:pt>
              </c:strCache>
            </c:strRef>
          </c:cat>
          <c:val>
            <c:numRef>
              <c:f>Sheet1!$B$2:$B$15</c:f>
              <c:numCache>
                <c:formatCode>General</c:formatCode>
                <c:ptCount val="14"/>
                <c:pt idx="0">
                  <c:v>4</c:v>
                </c:pt>
                <c:pt idx="1">
                  <c:v>20</c:v>
                </c:pt>
                <c:pt idx="2">
                  <c:v>20</c:v>
                </c:pt>
                <c:pt idx="3">
                  <c:v>20</c:v>
                </c:pt>
                <c:pt idx="4">
                  <c:v>21</c:v>
                </c:pt>
                <c:pt idx="5">
                  <c:v>22</c:v>
                </c:pt>
                <c:pt idx="6">
                  <c:v>24</c:v>
                </c:pt>
                <c:pt idx="7">
                  <c:v>34</c:v>
                </c:pt>
                <c:pt idx="8">
                  <c:v>40</c:v>
                </c:pt>
                <c:pt idx="9">
                  <c:v>60</c:v>
                </c:pt>
                <c:pt idx="10">
                  <c:v>60</c:v>
                </c:pt>
                <c:pt idx="11">
                  <c:v>60</c:v>
                </c:pt>
                <c:pt idx="12">
                  <c:v>80</c:v>
                </c:pt>
                <c:pt idx="13">
                  <c:v>434</c:v>
                </c:pt>
              </c:numCache>
            </c:numRef>
          </c:val>
          <c:extLst>
            <c:ext xmlns:c16="http://schemas.microsoft.com/office/drawing/2014/chart" uri="{C3380CC4-5D6E-409C-BE32-E72D297353CC}">
              <c16:uniqueId val="{00000011-2DEB-44DA-8581-620C58C1AF03}"/>
            </c:ext>
          </c:extLst>
        </c:ser>
        <c:dLbls>
          <c:showLegendKey val="0"/>
          <c:showVal val="1"/>
          <c:showCatName val="0"/>
          <c:showSerName val="0"/>
          <c:showPercent val="0"/>
          <c:showBubbleSize val="0"/>
        </c:dLbls>
        <c:gapWidth val="35"/>
        <c:axId val="287494528"/>
        <c:axId val="287498624"/>
      </c:barChart>
      <c:catAx>
        <c:axId val="287494528"/>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62626"/>
                </a:solidFill>
                <a:latin typeface="Arial"/>
              </a:defRPr>
            </a:pPr>
            <a:endParaRPr lang="en-US"/>
          </a:p>
        </c:txPr>
        <c:crossAx val="287498624"/>
        <c:crosses val="autoZero"/>
        <c:auto val="1"/>
        <c:lblAlgn val="ctr"/>
        <c:lblOffset val="100"/>
        <c:noMultiLvlLbl val="1"/>
      </c:catAx>
      <c:valAx>
        <c:axId val="287498624"/>
        <c:scaling>
          <c:orientation val="minMax"/>
        </c:scaling>
        <c:delete val="1"/>
        <c:axPos val="b"/>
        <c:numFmt formatCode="General" sourceLinked="0"/>
        <c:majorTickMark val="out"/>
        <c:minorTickMark val="none"/>
        <c:tickLblPos val="low"/>
        <c:crossAx val="28749452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Restaurants opened</c:v>
                </c:pt>
              </c:strCache>
            </c:strRef>
          </c:tx>
          <c:spPr>
            <a:ln w="38100" cap="flat">
              <a:solidFill>
                <a:srgbClr val="E23744"/>
              </a:solidFill>
              <a:prstDash val="solid"/>
              <a:round/>
            </a:ln>
            <a:effectLst/>
          </c:spPr>
          <c:marker>
            <c:symbol val="circle"/>
            <c:size val="7"/>
            <c:spPr>
              <a:solidFill>
                <a:srgbClr val="E23744"/>
              </a:solidFill>
              <a:ln w="9525" cap="flat">
                <a:solidFill>
                  <a:srgbClr val="E23744"/>
                </a:solidFill>
                <a:prstDash val="solid"/>
                <a:round/>
              </a:ln>
              <a:effectLst/>
            </c:spPr>
          </c:marker>
          <c:dLbls>
            <c:numFmt formatCode="#,##0" sourceLinked="0"/>
            <c:spPr>
              <a:noFill/>
              <a:ln>
                <a:noFill/>
              </a:ln>
              <a:effectLst/>
            </c:spPr>
            <c:txPr>
              <a:bodyPr/>
              <a:lstStyle/>
              <a:p>
                <a:pPr>
                  <a:defRPr sz="1000" b="0" i="0" u="none" strike="noStrike">
                    <a:solidFill>
                      <a:srgbClr val="262626"/>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2010</c:v>
                </c:pt>
                <c:pt idx="1">
                  <c:v>2011</c:v>
                </c:pt>
                <c:pt idx="2">
                  <c:v>2012</c:v>
                </c:pt>
                <c:pt idx="3">
                  <c:v>2013</c:v>
                </c:pt>
                <c:pt idx="4">
                  <c:v>2014</c:v>
                </c:pt>
                <c:pt idx="5">
                  <c:v>2015</c:v>
                </c:pt>
                <c:pt idx="6">
                  <c:v>2016</c:v>
                </c:pt>
                <c:pt idx="7">
                  <c:v>2017</c:v>
                </c:pt>
                <c:pt idx="8">
                  <c:v>2018</c:v>
                </c:pt>
              </c:strCache>
            </c:strRef>
          </c:cat>
          <c:val>
            <c:numRef>
              <c:f>Sheet1!$B$2:$B$10</c:f>
              <c:numCache>
                <c:formatCode>General</c:formatCode>
                <c:ptCount val="9"/>
                <c:pt idx="0">
                  <c:v>1080</c:v>
                </c:pt>
                <c:pt idx="1">
                  <c:v>1098</c:v>
                </c:pt>
                <c:pt idx="2">
                  <c:v>1022</c:v>
                </c:pt>
                <c:pt idx="3">
                  <c:v>1061</c:v>
                </c:pt>
                <c:pt idx="4">
                  <c:v>1051</c:v>
                </c:pt>
                <c:pt idx="5">
                  <c:v>1024</c:v>
                </c:pt>
                <c:pt idx="6">
                  <c:v>1027</c:v>
                </c:pt>
                <c:pt idx="7">
                  <c:v>1086</c:v>
                </c:pt>
                <c:pt idx="8">
                  <c:v>1102</c:v>
                </c:pt>
              </c:numCache>
            </c:numRef>
          </c:val>
          <c:smooth val="0"/>
          <c:extLst>
            <c:ext xmlns:c16="http://schemas.microsoft.com/office/drawing/2014/chart" uri="{C3380CC4-5D6E-409C-BE32-E72D297353CC}">
              <c16:uniqueId val="{00000000-F3C9-4046-AB1A-8BFAA07CCEC5}"/>
            </c:ext>
          </c:extLst>
        </c:ser>
        <c:dLbls>
          <c:dLblPos val="t"/>
          <c:showLegendKey val="0"/>
          <c:showVal val="1"/>
          <c:showCatName val="0"/>
          <c:showSerName val="0"/>
          <c:showPercent val="0"/>
          <c:showBubbleSize val="0"/>
        </c:dLbls>
        <c:marker val="1"/>
        <c:smooth val="0"/>
        <c:axId val="287645696"/>
        <c:axId val="287648384"/>
      </c:lineChart>
      <c:catAx>
        <c:axId val="287645696"/>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62626"/>
                </a:solidFill>
                <a:latin typeface="Arial"/>
              </a:defRPr>
            </a:pPr>
            <a:endParaRPr lang="en-US"/>
          </a:p>
        </c:txPr>
        <c:crossAx val="287648384"/>
        <c:crosses val="autoZero"/>
        <c:auto val="1"/>
        <c:lblAlgn val="ctr"/>
        <c:lblOffset val="100"/>
        <c:noMultiLvlLbl val="1"/>
      </c:catAx>
      <c:valAx>
        <c:axId val="287648384"/>
        <c:scaling>
          <c:orientation val="minMax"/>
          <c:max val="1200"/>
          <c:min val="900"/>
        </c:scaling>
        <c:delete val="0"/>
        <c:axPos val="l"/>
        <c:majorGridlines>
          <c:spPr>
            <a:ln w="12700" cap="flat">
              <a:solidFill>
                <a:srgbClr val="E7E3E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6B6B"/>
                </a:solidFill>
                <a:latin typeface="Arial"/>
              </a:defRPr>
            </a:pPr>
            <a:endParaRPr lang="en-US"/>
          </a:p>
        </c:txPr>
        <c:crossAx val="28764569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[Template (Zomato) (2).xlsx]Q-1 I Subjective!PivotTable7</c:name>
    <c:fmtId val="-1"/>
  </c:pivotSource>
  <c:chart>
    <c:autoTitleDeleted val="0"/>
    <c:pivotFmts>
      <c:pivotFmt>
        <c:idx val="0"/>
        <c:marker>
          <c:symbol val="none"/>
        </c:marker>
      </c:pivotFmt>
      <c:pivotFmt>
        <c:idx val="1"/>
        <c:marker>
          <c:symbol val="none"/>
        </c:marker>
      </c:pivotFmt>
      <c:pivotFmt>
        <c:idx val="2"/>
        <c:marker>
          <c:symbol val="none"/>
        </c:marker>
      </c:pivotFmt>
      <c:pivotFmt>
        <c:idx val="3"/>
        <c:marker>
          <c:symbol val="none"/>
        </c:marker>
      </c:pivotFmt>
      <c:pivotFmt>
        <c:idx val="4"/>
        <c:marker>
          <c:symbol val="none"/>
        </c:marker>
      </c:pivotFmt>
      <c:pivotFmt>
        <c:idx val="5"/>
        <c:marker>
          <c:symbol val="none"/>
        </c:marker>
      </c:pivotFmt>
      <c:pivotFmt>
        <c:idx val="6"/>
        <c:marker>
          <c:symbol val="none"/>
        </c:marker>
      </c:pivotFmt>
      <c:pivotFmt>
        <c:idx val="7"/>
        <c:marker>
          <c:symbol val="none"/>
        </c:marker>
      </c:pivotFmt>
      <c:pivotFmt>
        <c:idx val="8"/>
        <c:marker>
          <c:symbol val="none"/>
        </c:marker>
      </c:pivotFmt>
    </c:pivotFmts>
    <c:plotArea>
      <c:layout/>
      <c:barChart>
        <c:barDir val="col"/>
        <c:grouping val="clustered"/>
        <c:varyColors val="0"/>
        <c:ser>
          <c:idx val="0"/>
          <c:order val="0"/>
          <c:tx>
            <c:strRef>
              <c:f>'Q-1 I Subjective'!$C$7</c:f>
              <c:strCache>
                <c:ptCount val="1"/>
                <c:pt idx="0">
                  <c:v>Count of RestaurantID</c:v>
                </c:pt>
              </c:strCache>
            </c:strRef>
          </c:tx>
          <c:invertIfNegative val="0"/>
          <c:cat>
            <c:strRef>
              <c:f>'Q-1 I Subjective'!$B$8:$B$10</c:f>
              <c:strCache>
                <c:ptCount val="3"/>
                <c:pt idx="0">
                  <c:v>New Zealand</c:v>
                </c:pt>
                <c:pt idx="1">
                  <c:v>Qatar</c:v>
                </c:pt>
                <c:pt idx="2">
                  <c:v>Turkey</c:v>
                </c:pt>
              </c:strCache>
            </c:strRef>
          </c:cat>
          <c:val>
            <c:numRef>
              <c:f>'Q-1 I Subjective'!$C$8:$C$10</c:f>
              <c:numCache>
                <c:formatCode>General</c:formatCode>
                <c:ptCount val="3"/>
                <c:pt idx="0">
                  <c:v>40</c:v>
                </c:pt>
                <c:pt idx="1">
                  <c:v>20</c:v>
                </c:pt>
                <c:pt idx="2">
                  <c:v>34</c:v>
                </c:pt>
              </c:numCache>
            </c:numRef>
          </c:val>
          <c:extLst>
            <c:ext xmlns:c16="http://schemas.microsoft.com/office/drawing/2014/chart" uri="{C3380CC4-5D6E-409C-BE32-E72D297353CC}">
              <c16:uniqueId val="{00000000-4AAF-4E5B-982B-AB5F2CAECF39}"/>
            </c:ext>
          </c:extLst>
        </c:ser>
        <c:ser>
          <c:idx val="1"/>
          <c:order val="1"/>
          <c:tx>
            <c:strRef>
              <c:f>'Q-1 I Subjective'!$D$7</c:f>
              <c:strCache>
                <c:ptCount val="1"/>
                <c:pt idx="0">
                  <c:v>Average of Rating</c:v>
                </c:pt>
              </c:strCache>
            </c:strRef>
          </c:tx>
          <c:invertIfNegative val="0"/>
          <c:cat>
            <c:strRef>
              <c:f>'Q-1 I Subjective'!$B$8:$B$10</c:f>
              <c:strCache>
                <c:ptCount val="3"/>
                <c:pt idx="0">
                  <c:v>New Zealand</c:v>
                </c:pt>
                <c:pt idx="1">
                  <c:v>Qatar</c:v>
                </c:pt>
                <c:pt idx="2">
                  <c:v>Turkey</c:v>
                </c:pt>
              </c:strCache>
            </c:strRef>
          </c:cat>
          <c:val>
            <c:numRef>
              <c:f>'Q-1 I Subjective'!$D$8:$D$10</c:f>
              <c:numCache>
                <c:formatCode>0.00</c:formatCode>
                <c:ptCount val="3"/>
                <c:pt idx="0">
                  <c:v>4.2624999999999984</c:v>
                </c:pt>
                <c:pt idx="1">
                  <c:v>4.0600000000000005</c:v>
                </c:pt>
                <c:pt idx="2">
                  <c:v>4.3000000000000007</c:v>
                </c:pt>
              </c:numCache>
            </c:numRef>
          </c:val>
          <c:extLst>
            <c:ext xmlns:c16="http://schemas.microsoft.com/office/drawing/2014/chart" uri="{C3380CC4-5D6E-409C-BE32-E72D297353CC}">
              <c16:uniqueId val="{00000001-4AAF-4E5B-982B-AB5F2CAECF39}"/>
            </c:ext>
          </c:extLst>
        </c:ser>
        <c:ser>
          <c:idx val="2"/>
          <c:order val="2"/>
          <c:tx>
            <c:strRef>
              <c:f>'Q-1 I Subjective'!$E$7</c:f>
              <c:strCache>
                <c:ptCount val="1"/>
                <c:pt idx="0">
                  <c:v>Average of Average_Cost_for_two</c:v>
                </c:pt>
              </c:strCache>
            </c:strRef>
          </c:tx>
          <c:invertIfNegative val="0"/>
          <c:cat>
            <c:strRef>
              <c:f>'Q-1 I Subjective'!$B$8:$B$10</c:f>
              <c:strCache>
                <c:ptCount val="3"/>
                <c:pt idx="0">
                  <c:v>New Zealand</c:v>
                </c:pt>
                <c:pt idx="1">
                  <c:v>Qatar</c:v>
                </c:pt>
                <c:pt idx="2">
                  <c:v>Turkey</c:v>
                </c:pt>
              </c:strCache>
            </c:strRef>
          </c:cat>
          <c:val>
            <c:numRef>
              <c:f>'Q-1 I Subjective'!$E$8:$E$10</c:f>
              <c:numCache>
                <c:formatCode>0.00</c:formatCode>
                <c:ptCount val="3"/>
                <c:pt idx="0">
                  <c:v>69.75</c:v>
                </c:pt>
                <c:pt idx="1">
                  <c:v>223.75</c:v>
                </c:pt>
                <c:pt idx="2">
                  <c:v>84.852941176470594</c:v>
                </c:pt>
              </c:numCache>
            </c:numRef>
          </c:val>
          <c:extLst>
            <c:ext xmlns:c16="http://schemas.microsoft.com/office/drawing/2014/chart" uri="{C3380CC4-5D6E-409C-BE32-E72D297353CC}">
              <c16:uniqueId val="{00000002-4AAF-4E5B-982B-AB5F2CAECF39}"/>
            </c:ext>
          </c:extLst>
        </c:ser>
        <c:dLbls>
          <c:showLegendKey val="0"/>
          <c:showVal val="0"/>
          <c:showCatName val="0"/>
          <c:showSerName val="0"/>
          <c:showPercent val="0"/>
          <c:showBubbleSize val="0"/>
        </c:dLbls>
        <c:gapWidth val="150"/>
        <c:axId val="255979904"/>
        <c:axId val="255981440"/>
      </c:barChart>
      <c:catAx>
        <c:axId val="255979904"/>
        <c:scaling>
          <c:orientation val="minMax"/>
        </c:scaling>
        <c:delete val="0"/>
        <c:axPos val="b"/>
        <c:numFmt formatCode="General" sourceLinked="0"/>
        <c:majorTickMark val="out"/>
        <c:minorTickMark val="none"/>
        <c:tickLblPos val="nextTo"/>
        <c:crossAx val="255981440"/>
        <c:crosses val="autoZero"/>
        <c:auto val="1"/>
        <c:lblAlgn val="ctr"/>
        <c:lblOffset val="100"/>
        <c:noMultiLvlLbl val="0"/>
      </c:catAx>
      <c:valAx>
        <c:axId val="255981440"/>
        <c:scaling>
          <c:orientation val="minMax"/>
        </c:scaling>
        <c:delete val="0"/>
        <c:axPos val="l"/>
        <c:majorGridlines/>
        <c:numFmt formatCode="General" sourceLinked="1"/>
        <c:majorTickMark val="out"/>
        <c:minorTickMark val="none"/>
        <c:tickLblPos val="nextTo"/>
        <c:crossAx val="25597990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Average rating</c:v>
                </c:pt>
              </c:strCache>
            </c:strRef>
          </c:tx>
          <c:spPr>
            <a:solidFill>
              <a:srgbClr val="E23744"/>
            </a:solidFill>
            <a:effectLst/>
          </c:spPr>
          <c:invertIfNegative val="0"/>
          <c:dLbls>
            <c:numFmt formatCode="0.00" sourceLinked="0"/>
            <c:spPr>
              <a:noFill/>
              <a:ln>
                <a:noFill/>
              </a:ln>
              <a:effectLst/>
            </c:spPr>
            <c:txPr>
              <a:bodyPr/>
              <a:lstStyle/>
              <a:p>
                <a:pPr>
                  <a:defRPr sz="1200" b="1"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Qatar</c:v>
                </c:pt>
                <c:pt idx="1">
                  <c:v>Turkey</c:v>
                </c:pt>
                <c:pt idx="2">
                  <c:v>New Zealand</c:v>
                </c:pt>
              </c:strCache>
            </c:strRef>
          </c:cat>
          <c:val>
            <c:numRef>
              <c:f>Sheet1!$B$2:$B$4</c:f>
              <c:numCache>
                <c:formatCode>General</c:formatCode>
                <c:ptCount val="3"/>
                <c:pt idx="0">
                  <c:v>4.0599999999999996</c:v>
                </c:pt>
                <c:pt idx="1">
                  <c:v>4.3</c:v>
                </c:pt>
                <c:pt idx="2">
                  <c:v>4.26</c:v>
                </c:pt>
              </c:numCache>
            </c:numRef>
          </c:val>
          <c:extLst>
            <c:ext xmlns:c16="http://schemas.microsoft.com/office/drawing/2014/chart" uri="{C3380CC4-5D6E-409C-BE32-E72D297353CC}">
              <c16:uniqueId val="{00000000-CBB7-48A0-9131-43E242865E6F}"/>
            </c:ext>
          </c:extLst>
        </c:ser>
        <c:dLbls>
          <c:showLegendKey val="0"/>
          <c:showVal val="1"/>
          <c:showCatName val="0"/>
          <c:showSerName val="0"/>
          <c:showPercent val="0"/>
          <c:showBubbleSize val="0"/>
        </c:dLbls>
        <c:gapWidth val="55"/>
        <c:axId val="287324032"/>
        <c:axId val="287355648"/>
      </c:barChart>
      <c:catAx>
        <c:axId val="287324032"/>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262626"/>
                </a:solidFill>
                <a:latin typeface="Arial"/>
              </a:defRPr>
            </a:pPr>
            <a:endParaRPr lang="en-US"/>
          </a:p>
        </c:txPr>
        <c:crossAx val="287355648"/>
        <c:crosses val="autoZero"/>
        <c:auto val="1"/>
        <c:lblAlgn val="ctr"/>
        <c:lblOffset val="100"/>
        <c:noMultiLvlLbl val="1"/>
      </c:catAx>
      <c:valAx>
        <c:axId val="287355648"/>
        <c:scaling>
          <c:orientation val="minMax"/>
          <c:max val="5"/>
          <c:min val="0"/>
        </c:scaling>
        <c:delete val="0"/>
        <c:axPos val="l"/>
        <c:majorGridlines>
          <c:spPr>
            <a:ln w="12700" cap="flat">
              <a:solidFill>
                <a:srgbClr val="EFEB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87324032"/>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(Zomato).xlsx]Q-7 I Objective!PivotTable3</c:name>
    <c:fmtId val="13"/>
  </c:pivotSource>
  <c:chart>
    <c:title>
      <c:tx>
        <c:rich>
          <a:bodyPr/>
          <a:lstStyle/>
          <a:p>
            <a:pPr>
              <a:defRPr/>
            </a:pPr>
            <a:r>
              <a:rPr lang="en-US"/>
              <a:t>Average Cost for Two</a:t>
            </a:r>
          </a:p>
        </c:rich>
      </c:tx>
      <c:overlay val="0"/>
    </c:title>
    <c:autoTitleDeleted val="0"/>
    <c:pivotFmts>
      <c:pivotFmt>
        <c:idx val="0"/>
      </c:pivotFmt>
      <c:pivotFmt>
        <c:idx val="1"/>
      </c:pivotFmt>
      <c:pivotFmt>
        <c:idx val="2"/>
      </c:pivotFmt>
      <c:pivotFmt>
        <c:idx val="3"/>
      </c:pivotFmt>
    </c:pivotFmts>
    <c:plotArea>
      <c:layout>
        <c:manualLayout>
          <c:layoutTarget val="inner"/>
          <c:xMode val="edge"/>
          <c:yMode val="edge"/>
          <c:x val="7.4473024205307672E-2"/>
          <c:y val="9.1203703703703717E-2"/>
          <c:w val="0.87396218528239522"/>
          <c:h val="0.69080243378668571"/>
        </c:manualLayout>
      </c:layout>
      <c:lineChart>
        <c:grouping val="standard"/>
        <c:varyColors val="0"/>
        <c:ser>
          <c:idx val="0"/>
          <c:order val="0"/>
          <c:tx>
            <c:strRef>
              <c:f>'Q-7 I Objective'!$C$26</c:f>
              <c:strCache>
                <c:ptCount val="1"/>
                <c:pt idx="0">
                  <c:v>Total</c:v>
                </c:pt>
              </c:strCache>
            </c:strRef>
          </c:tx>
          <c:cat>
            <c:strRef>
              <c:f>'Q-7 I Objective'!$B$27:$B$42</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'Q-7 I Objective'!$C$27:$C$42</c:f>
              <c:numCache>
                <c:formatCode>0.00</c:formatCode>
                <c:ptCount val="15"/>
                <c:pt idx="0">
                  <c:v>24.083333333333332</c:v>
                </c:pt>
                <c:pt idx="1">
                  <c:v>134.66666666666666</c:v>
                </c:pt>
                <c:pt idx="2">
                  <c:v>36.25</c:v>
                </c:pt>
                <c:pt idx="3">
                  <c:v>623.37031900138697</c:v>
                </c:pt>
                <c:pt idx="4">
                  <c:v>281190.47619047621</c:v>
                </c:pt>
                <c:pt idx="5">
                  <c:v>69.75</c:v>
                </c:pt>
                <c:pt idx="6">
                  <c:v>1606.8181818181818</c:v>
                </c:pt>
                <c:pt idx="7">
                  <c:v>223.75</c:v>
                </c:pt>
                <c:pt idx="8">
                  <c:v>155.75</c:v>
                </c:pt>
                <c:pt idx="9">
                  <c:v>419.73333333333335</c:v>
                </c:pt>
                <c:pt idx="10">
                  <c:v>2375</c:v>
                </c:pt>
                <c:pt idx="11">
                  <c:v>84.852941176470594</c:v>
                </c:pt>
                <c:pt idx="12">
                  <c:v>166.41666666666666</c:v>
                </c:pt>
                <c:pt idx="13">
                  <c:v>47.8125</c:v>
                </c:pt>
                <c:pt idx="14">
                  <c:v>26.152073732718893</c:v>
                </c:pt>
              </c:numCache>
            </c:numRef>
          </c:val>
          <c:smooth val="0"/>
          <c:extLst>
            <c:ext xmlns:c16="http://schemas.microsoft.com/office/drawing/2014/chart" uri="{C3380CC4-5D6E-409C-BE32-E72D297353CC}">
              <c16:uniqueId val="{00000000-EBC8-4D2D-843B-DEC66F43B593}"/>
            </c:ext>
          </c:extLst>
        </c:ser>
        <c:dLbls>
          <c:showLegendKey val="0"/>
          <c:showVal val="0"/>
          <c:showCatName val="0"/>
          <c:showSerName val="0"/>
          <c:showPercent val="0"/>
          <c:showBubbleSize val="0"/>
        </c:dLbls>
        <c:marker val="1"/>
        <c:smooth val="0"/>
        <c:axId val="255703680"/>
        <c:axId val="255705472"/>
      </c:lineChart>
      <c:catAx>
        <c:axId val="255703680"/>
        <c:scaling>
          <c:orientation val="minMax"/>
        </c:scaling>
        <c:delete val="0"/>
        <c:axPos val="b"/>
        <c:numFmt formatCode="General" sourceLinked="0"/>
        <c:majorTickMark val="out"/>
        <c:minorTickMark val="none"/>
        <c:tickLblPos val="nextTo"/>
        <c:crossAx val="255705472"/>
        <c:crosses val="autoZero"/>
        <c:auto val="1"/>
        <c:lblAlgn val="ctr"/>
        <c:lblOffset val="100"/>
        <c:noMultiLvlLbl val="0"/>
      </c:catAx>
      <c:valAx>
        <c:axId val="255705472"/>
        <c:scaling>
          <c:orientation val="minMax"/>
        </c:scaling>
        <c:delete val="0"/>
        <c:axPos val="l"/>
        <c:majorGridlines>
          <c:spPr>
            <a:ln>
              <a:noFill/>
            </a:ln>
          </c:spPr>
        </c:majorGridlines>
        <c:numFmt formatCode="0.00" sourceLinked="1"/>
        <c:majorTickMark val="out"/>
        <c:minorTickMark val="none"/>
        <c:tickLblPos val="nextTo"/>
        <c:crossAx val="255703680"/>
        <c:crosses val="autoZero"/>
        <c:crossBetween val="between"/>
      </c:valAx>
    </c:plotArea>
    <c:legend>
      <c:legendPos val="r"/>
      <c:overlay val="0"/>
    </c:legend>
    <c:plotVisOnly val="1"/>
    <c:dispBlanksAs val="gap"/>
    <c:showDLblsOverMax val="0"/>
  </c:chart>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[Template (Zomato).xlsx]Q-9 I Objective!PivotTable4</c:name>
    <c:fmtId val="8"/>
  </c:pivotSource>
  <c:chart>
    <c:title>
      <c:tx>
        <c:rich>
          <a:bodyPr/>
          <a:lstStyle/>
          <a:p>
            <a:pPr>
              <a:defRPr/>
            </a:pPr>
            <a:r>
              <a:rPr lang="en-US"/>
              <a:t>Average No of Voters</a:t>
            </a:r>
          </a:p>
        </c:rich>
      </c:tx>
      <c:layout>
        <c:manualLayout>
          <c:xMode val="edge"/>
          <c:yMode val="edge"/>
          <c:x val="0.24022222222222223"/>
          <c:y val="6.8423738699329245E-2"/>
        </c:manualLayout>
      </c:layout>
      <c:overlay val="0"/>
    </c:title>
    <c:autoTitleDeleted val="0"/>
    <c:pivotFmts>
      <c:pivotFmt>
        <c:idx val="0"/>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6726978276651587E-2"/>
          <c:y val="0.14030743083344091"/>
          <c:w val="0.88190344557994083"/>
          <c:h val="0.43010348091734435"/>
        </c:manualLayout>
      </c:layout>
      <c:areaChart>
        <c:grouping val="standard"/>
        <c:varyColors val="0"/>
        <c:ser>
          <c:idx val="0"/>
          <c:order val="0"/>
          <c:tx>
            <c:strRef>
              <c:f>'Q-9 I Objective'!$C$7</c:f>
              <c:strCache>
                <c:ptCount val="1"/>
                <c:pt idx="0">
                  <c:v>Total</c:v>
                </c:pt>
              </c:strCache>
            </c:strRef>
          </c:tx>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'Q-9 I Objective'!$B$8:$B$23</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'Q-9 I Objective'!$C$8:$C$23</c:f>
              <c:numCache>
                <c:formatCode>0.00</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extLst>
            <c:ext xmlns:c16="http://schemas.microsoft.com/office/drawing/2014/chart" uri="{C3380CC4-5D6E-409C-BE32-E72D297353CC}">
              <c16:uniqueId val="{00000000-CA0C-4165-AE74-01E1CEB36658}"/>
            </c:ext>
          </c:extLst>
        </c:ser>
        <c:dLbls>
          <c:showLegendKey val="0"/>
          <c:showVal val="0"/>
          <c:showCatName val="0"/>
          <c:showSerName val="0"/>
          <c:showPercent val="0"/>
          <c:showBubbleSize val="0"/>
        </c:dLbls>
        <c:axId val="255736832"/>
        <c:axId val="255746816"/>
      </c:areaChart>
      <c:catAx>
        <c:axId val="255736832"/>
        <c:scaling>
          <c:orientation val="minMax"/>
        </c:scaling>
        <c:delete val="0"/>
        <c:axPos val="b"/>
        <c:numFmt formatCode="General" sourceLinked="0"/>
        <c:majorTickMark val="out"/>
        <c:minorTickMark val="none"/>
        <c:tickLblPos val="nextTo"/>
        <c:crossAx val="255746816"/>
        <c:crosses val="autoZero"/>
        <c:auto val="1"/>
        <c:lblAlgn val="ctr"/>
        <c:lblOffset val="100"/>
        <c:noMultiLvlLbl val="0"/>
      </c:catAx>
      <c:valAx>
        <c:axId val="255746816"/>
        <c:scaling>
          <c:orientation val="minMax"/>
        </c:scaling>
        <c:delete val="0"/>
        <c:axPos val="l"/>
        <c:majorGridlines>
          <c:spPr>
            <a:ln>
              <a:noFill/>
            </a:ln>
          </c:spPr>
        </c:majorGridlines>
        <c:numFmt formatCode="0.00" sourceLinked="1"/>
        <c:majorTickMark val="out"/>
        <c:minorTickMark val="none"/>
        <c:tickLblPos val="nextTo"/>
        <c:crossAx val="255736832"/>
        <c:crosses val="autoZero"/>
        <c:crossBetween val="midCat"/>
      </c:valAx>
    </c:plotArea>
    <c:plotVisOnly val="1"/>
    <c:dispBlanksAs val="zero"/>
    <c:showDLblsOverMax val="0"/>
  </c:chart>
  <c:txPr>
    <a:bodyPr/>
    <a:lstStyle/>
    <a:p>
      <a:pPr>
        <a:defRPr sz="1800"/>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Avg rating</c:v>
                </c:pt>
              </c:strCache>
            </c:strRef>
          </c:tx>
          <c:spPr>
            <a:solidFill>
              <a:srgbClr val="E23744"/>
            </a:solidFill>
            <a:effectLst/>
          </c:spPr>
          <c:invertIfNegative val="0"/>
          <c:dLbls>
            <c:numFmt formatCode="0.00" sourceLinked="0"/>
            <c:spPr>
              <a:noFill/>
              <a:ln>
                <a:noFill/>
              </a:ln>
              <a:effectLst/>
            </c:spPr>
            <c:txPr>
              <a:bodyPr/>
              <a:lstStyle/>
              <a:p>
                <a:pPr>
                  <a:defRPr sz="105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International</c:v>
                </c:pt>
                <c:pt idx="1">
                  <c:v>Southern</c:v>
                </c:pt>
                <c:pt idx="2">
                  <c:v>Vegetarian</c:v>
                </c:pt>
                <c:pt idx="3">
                  <c:v>Sandwich</c:v>
                </c:pt>
                <c:pt idx="4">
                  <c:v>Grill</c:v>
                </c:pt>
                <c:pt idx="5">
                  <c:v>Steak</c:v>
                </c:pt>
                <c:pt idx="6">
                  <c:v>Bar Food</c:v>
                </c:pt>
                <c:pt idx="7">
                  <c:v>Indian</c:v>
                </c:pt>
                <c:pt idx="8">
                  <c:v>Sushi</c:v>
                </c:pt>
              </c:strCache>
            </c:strRef>
          </c:cat>
          <c:val>
            <c:numRef>
              <c:f>Sheet1!$B$2:$B$10</c:f>
              <c:numCache>
                <c:formatCode>General</c:formatCode>
                <c:ptCount val="9"/>
                <c:pt idx="0">
                  <c:v>4.25</c:v>
                </c:pt>
                <c:pt idx="1">
                  <c:v>4.13</c:v>
                </c:pt>
                <c:pt idx="2">
                  <c:v>4.07</c:v>
                </c:pt>
                <c:pt idx="3">
                  <c:v>4.07</c:v>
                </c:pt>
                <c:pt idx="4">
                  <c:v>4.0599999999999996</c:v>
                </c:pt>
                <c:pt idx="5">
                  <c:v>3.99</c:v>
                </c:pt>
                <c:pt idx="6">
                  <c:v>3.98</c:v>
                </c:pt>
                <c:pt idx="7">
                  <c:v>3.98</c:v>
                </c:pt>
                <c:pt idx="8">
                  <c:v>3.97</c:v>
                </c:pt>
              </c:numCache>
            </c:numRef>
          </c:val>
          <c:extLst>
            <c:ext xmlns:c16="http://schemas.microsoft.com/office/drawing/2014/chart" uri="{C3380CC4-5D6E-409C-BE32-E72D297353CC}">
              <c16:uniqueId val="{00000000-FD57-4A29-8DBC-C7E95C47FA37}"/>
            </c:ext>
          </c:extLst>
        </c:ser>
        <c:dLbls>
          <c:showLegendKey val="0"/>
          <c:showVal val="1"/>
          <c:showCatName val="0"/>
          <c:showSerName val="0"/>
          <c:showPercent val="0"/>
          <c:showBubbleSize val="0"/>
        </c:dLbls>
        <c:gapWidth val="35"/>
        <c:axId val="285773824"/>
        <c:axId val="285776512"/>
      </c:barChart>
      <c:catAx>
        <c:axId val="28577382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262626"/>
                </a:solidFill>
                <a:latin typeface="Arial"/>
              </a:defRPr>
            </a:pPr>
            <a:endParaRPr lang="en-US"/>
          </a:p>
        </c:txPr>
        <c:crossAx val="285776512"/>
        <c:crosses val="autoZero"/>
        <c:auto val="1"/>
        <c:lblAlgn val="ctr"/>
        <c:lblOffset val="100"/>
        <c:noMultiLvlLbl val="1"/>
      </c:catAx>
      <c:valAx>
        <c:axId val="285776512"/>
        <c:scaling>
          <c:orientation val="minMax"/>
          <c:max val="4.4000000000000004"/>
          <c:min val="3.7"/>
        </c:scaling>
        <c:delete val="1"/>
        <c:axPos val="b"/>
        <c:numFmt formatCode="General" sourceLinked="0"/>
        <c:majorTickMark val="out"/>
        <c:minorTickMark val="none"/>
        <c:tickLblPos val="low"/>
        <c:crossAx val="28577382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[Template (Zomato).xlsx]Q-7 I Subjective!PivotTable11</c:name>
    <c:fmtId val="7"/>
  </c:pivotSource>
  <c:chart>
    <c:title>
      <c:tx>
        <c:rich>
          <a:bodyPr/>
          <a:lstStyle/>
          <a:p>
            <a:pPr>
              <a:defRPr/>
            </a:pPr>
            <a:r>
              <a:rPr lang="en-US"/>
              <a:t>Has Table Booking</a:t>
            </a:r>
          </a:p>
        </c:rich>
      </c:tx>
      <c:overlay val="0"/>
    </c:title>
    <c:autoTitleDeleted val="0"/>
    <c:pivotFmts>
      <c:pivotFmt>
        <c:idx val="0"/>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marker>
          <c:symbol val="none"/>
        </c:marker>
        <c:dLbl>
          <c:idx val="0"/>
          <c:spPr/>
          <c:txPr>
            <a:bodyPr/>
            <a:lstStyle/>
            <a:p>
              <a:pPr>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rAngAx val="1"/>
    </c:view3D>
    <c:floor>
      <c:thickness val="0"/>
    </c:floor>
    <c:sideWall>
      <c:thickness val="0"/>
    </c:sideWall>
    <c:backWall>
      <c:thickness val="0"/>
    </c:backWall>
    <c:plotArea>
      <c:layout>
        <c:manualLayout>
          <c:layoutTarget val="inner"/>
          <c:xMode val="edge"/>
          <c:yMode val="edge"/>
          <c:x val="0.14234951881014873"/>
          <c:y val="0.19666447944006998"/>
          <c:w val="0.82709492563429576"/>
          <c:h val="0.68069079906678331"/>
        </c:manualLayout>
      </c:layout>
      <c:bar3DChart>
        <c:barDir val="col"/>
        <c:grouping val="clustered"/>
        <c:varyColors val="0"/>
        <c:ser>
          <c:idx val="0"/>
          <c:order val="0"/>
          <c:tx>
            <c:strRef>
              <c:f>'Q-7 I Subjective'!$C$14</c:f>
              <c:strCache>
                <c:ptCount val="1"/>
                <c:pt idx="0">
                  <c:v>Total</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'Q-7 I Subjective'!$B$15:$B$17</c:f>
              <c:strCache>
                <c:ptCount val="2"/>
                <c:pt idx="0">
                  <c:v>No</c:v>
                </c:pt>
                <c:pt idx="1">
                  <c:v>Yes</c:v>
                </c:pt>
              </c:strCache>
            </c:strRef>
          </c:cat>
          <c:val>
            <c:numRef>
              <c:f>'Q-7 I Subjective'!$C$15:$C$17</c:f>
              <c:numCache>
                <c:formatCode>0.00</c:formatCode>
                <c:ptCount val="2"/>
                <c:pt idx="0">
                  <c:v>8393</c:v>
                </c:pt>
                <c:pt idx="1">
                  <c:v>1158</c:v>
                </c:pt>
              </c:numCache>
            </c:numRef>
          </c:val>
          <c:extLst>
            <c:ext xmlns:c16="http://schemas.microsoft.com/office/drawing/2014/chart" uri="{C3380CC4-5D6E-409C-BE32-E72D297353CC}">
              <c16:uniqueId val="{00000000-A8E6-4BFD-9972-4314BD68E162}"/>
            </c:ext>
          </c:extLst>
        </c:ser>
        <c:dLbls>
          <c:showLegendKey val="0"/>
          <c:showVal val="0"/>
          <c:showCatName val="0"/>
          <c:showSerName val="0"/>
          <c:showPercent val="0"/>
          <c:showBubbleSize val="0"/>
        </c:dLbls>
        <c:gapWidth val="150"/>
        <c:shape val="cylinder"/>
        <c:axId val="255812352"/>
        <c:axId val="255813888"/>
        <c:axId val="0"/>
      </c:bar3DChart>
      <c:catAx>
        <c:axId val="255812352"/>
        <c:scaling>
          <c:orientation val="minMax"/>
        </c:scaling>
        <c:delete val="0"/>
        <c:axPos val="b"/>
        <c:numFmt formatCode="General" sourceLinked="0"/>
        <c:majorTickMark val="out"/>
        <c:minorTickMark val="none"/>
        <c:tickLblPos val="nextTo"/>
        <c:crossAx val="255813888"/>
        <c:crosses val="autoZero"/>
        <c:auto val="1"/>
        <c:lblAlgn val="ctr"/>
        <c:lblOffset val="100"/>
        <c:noMultiLvlLbl val="0"/>
      </c:catAx>
      <c:valAx>
        <c:axId val="255813888"/>
        <c:scaling>
          <c:orientation val="minMax"/>
        </c:scaling>
        <c:delete val="0"/>
        <c:axPos val="l"/>
        <c:majorGridlines>
          <c:spPr>
            <a:ln>
              <a:noFill/>
            </a:ln>
          </c:spPr>
        </c:majorGridlines>
        <c:numFmt formatCode="0.00" sourceLinked="1"/>
        <c:majorTickMark val="out"/>
        <c:minorTickMark val="none"/>
        <c:tickLblPos val="nextTo"/>
        <c:crossAx val="255812352"/>
        <c:crosses val="autoZero"/>
        <c:crossBetween val="between"/>
      </c:valAx>
    </c:plotArea>
    <c:plotVisOnly val="1"/>
    <c:dispBlanksAs val="gap"/>
    <c:showDLblsOverMax val="0"/>
  </c:chart>
  <c:txPr>
    <a:bodyPr/>
    <a:lstStyle/>
    <a:p>
      <a:pPr>
        <a:defRPr sz="1800"/>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[Template (Zomato).xlsx]Q-7 I Subjective!PivotTable1</c:name>
    <c:fmtId val="11"/>
  </c:pivotSource>
  <c:chart>
    <c:title>
      <c:tx>
        <c:rich>
          <a:bodyPr/>
          <a:lstStyle/>
          <a:p>
            <a:pPr>
              <a:defRPr/>
            </a:pPr>
            <a:r>
              <a:rPr lang="en-US"/>
              <a:t>Online Delivery</a:t>
            </a:r>
          </a:p>
        </c:rich>
      </c:tx>
      <c:overlay val="0"/>
    </c:title>
    <c:autoTitleDeleted val="0"/>
    <c:pivotFmts>
      <c:pivotFmt>
        <c:idx val="0"/>
      </c:pivotFmt>
      <c:pivotFmt>
        <c:idx val="1"/>
        <c:marker>
          <c:symbol val="none"/>
        </c:marker>
      </c:pivotFmt>
      <c:pivotFmt>
        <c:idx val="2"/>
        <c:marker>
          <c:symbol val="none"/>
        </c:marker>
      </c:pivotFmt>
      <c:pivotFmt>
        <c:idx val="3"/>
        <c:marker>
          <c:symbol val="none"/>
        </c:marker>
      </c:pivotFmt>
      <c:pivotFmt>
        <c:idx val="4"/>
        <c:marker>
          <c:symbol val="none"/>
        </c:marker>
      </c:pivotFmt>
    </c:pivotFmts>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'Q-7 I Subjective'!$C$33</c:f>
              <c:strCache>
                <c:ptCount val="1"/>
                <c:pt idx="0">
                  <c:v>Total</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'Q-7 I Subjective'!$B$34:$B$36</c:f>
              <c:strCache>
                <c:ptCount val="2"/>
                <c:pt idx="0">
                  <c:v>No</c:v>
                </c:pt>
                <c:pt idx="1">
                  <c:v>Yes</c:v>
                </c:pt>
              </c:strCache>
            </c:strRef>
          </c:cat>
          <c:val>
            <c:numRef>
              <c:f>'Q-7 I Subjective'!$C$34:$C$36</c:f>
              <c:numCache>
                <c:formatCode>0.00</c:formatCode>
                <c:ptCount val="2"/>
                <c:pt idx="0">
                  <c:v>7100</c:v>
                </c:pt>
                <c:pt idx="1">
                  <c:v>2451</c:v>
                </c:pt>
              </c:numCache>
            </c:numRef>
          </c:val>
          <c:extLst>
            <c:ext xmlns:c16="http://schemas.microsoft.com/office/drawing/2014/chart" uri="{C3380CC4-5D6E-409C-BE32-E72D297353CC}">
              <c16:uniqueId val="{00000000-6634-48B0-8A45-3B93D6AA1191}"/>
            </c:ext>
          </c:extLst>
        </c:ser>
        <c:dLbls>
          <c:showLegendKey val="0"/>
          <c:showVal val="0"/>
          <c:showCatName val="0"/>
          <c:showSerName val="0"/>
          <c:showPercent val="0"/>
          <c:showBubbleSize val="0"/>
        </c:dLbls>
        <c:gapWidth val="150"/>
        <c:shape val="cylinder"/>
        <c:axId val="255842944"/>
        <c:axId val="255848832"/>
        <c:axId val="0"/>
      </c:bar3DChart>
      <c:catAx>
        <c:axId val="255842944"/>
        <c:scaling>
          <c:orientation val="minMax"/>
        </c:scaling>
        <c:delete val="0"/>
        <c:axPos val="b"/>
        <c:numFmt formatCode="General" sourceLinked="0"/>
        <c:majorTickMark val="out"/>
        <c:minorTickMark val="none"/>
        <c:tickLblPos val="nextTo"/>
        <c:crossAx val="255848832"/>
        <c:crosses val="autoZero"/>
        <c:auto val="1"/>
        <c:lblAlgn val="ctr"/>
        <c:lblOffset val="100"/>
        <c:noMultiLvlLbl val="0"/>
      </c:catAx>
      <c:valAx>
        <c:axId val="255848832"/>
        <c:scaling>
          <c:orientation val="minMax"/>
        </c:scaling>
        <c:delete val="0"/>
        <c:axPos val="l"/>
        <c:majorGridlines>
          <c:spPr>
            <a:ln>
              <a:noFill/>
            </a:ln>
          </c:spPr>
        </c:majorGridlines>
        <c:numFmt formatCode="0.00" sourceLinked="1"/>
        <c:majorTickMark val="out"/>
        <c:minorTickMark val="none"/>
        <c:tickLblPos val="nextTo"/>
        <c:crossAx val="255842944"/>
        <c:crosses val="autoZero"/>
        <c:crossBetween val="between"/>
      </c:valAx>
    </c:plotArea>
    <c:plotVisOnly val="1"/>
    <c:dispBlanksAs val="gap"/>
    <c:showDLblsOverMax val="0"/>
  </c:chart>
  <c:txPr>
    <a:bodyPr/>
    <a:lstStyle/>
    <a:p>
      <a:pPr>
        <a:defRPr sz="1800"/>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552FE3-C88E-4DC1-BE13-5402EB726A4F}" type="datetimeFigureOut">
              <a:rPr lang="en-IN" smtClean="0"/>
              <a:t>04-10-2026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F11BD2-DF82-4E9F-995E-6DEE49F40433}" type="slidenum">
              <a:rPr lang="en-IN" smtClean="0"/>
              <a:t>‹#›</a:t>
            </a:fld>
            <a:endParaRPr lang="en-IN"/>
          </a:p>
        </p:txBody>
      </p:sp>
    </p:spTree>
    <p:extLst>
      <p:ext uri="{BB962C8B-B14F-4D97-AF65-F5344CB8AC3E}">
        <p14:creationId xmlns:p14="http://schemas.microsoft.com/office/powerpoint/2010/main" val="3731636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Zomato's core market is heavily concentrated. Of the 9,551 restaurant listings in our dataset, 8,652, over 90%, are in India This means growth at home is increasingly a fight over existing demand, while many international markets remain under-served. Outside India, no country has more than 434 restaurants, and several have fewer than 25.So the question for management is: where should Zomato grow next? The next slides answer that.</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5</a:t>
            </a:fld>
            <a:endParaRPr lang="en-IN"/>
          </a:p>
        </p:txBody>
      </p:sp>
    </p:spTree>
    <p:extLst>
      <p:ext uri="{BB962C8B-B14F-4D97-AF65-F5344CB8AC3E}">
        <p14:creationId xmlns:p14="http://schemas.microsoft.com/office/powerpoint/2010/main" val="2293410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dashboard answers one question: where should Zomato expand next ? We analyzed 9,551 restaurants, with an average rating of 2.89 and about 157 votes each India has 8,652 restaurants, around 90% of the total. Every other country has fewer than 500, so India is saturated while the rest of the world is largely </a:t>
            </a:r>
            <a:r>
              <a:rPr lang="en-US" dirty="0" err="1"/>
              <a:t>untapped.Restaurant</a:t>
            </a:r>
            <a:r>
              <a:rPr lang="en-US" dirty="0"/>
              <a:t> openings dipped to 1,022 in 2012, then recovered and peaked at 1,102 in 2018. Growth is picking up </a:t>
            </a:r>
            <a:r>
              <a:rPr lang="en-US" dirty="0" err="1"/>
              <a:t>again.Ratings</a:t>
            </a:r>
            <a:r>
              <a:rPr lang="en-US" dirty="0"/>
              <a:t> are similar across countries, but customer engagement varies a lot. More votes mean a more active customer </a:t>
            </a:r>
            <a:r>
              <a:rPr lang="en-US" dirty="0" err="1"/>
              <a:t>base.Most</a:t>
            </a:r>
            <a:r>
              <a:rPr lang="en-US" dirty="0"/>
              <a:t> restaurants offer no table booking and no online delivery. This is a clear opportunity for Zomato to add </a:t>
            </a:r>
            <a:r>
              <a:rPr lang="en-US" dirty="0" err="1"/>
              <a:t>value.Average</a:t>
            </a:r>
            <a:r>
              <a:rPr lang="en-US" dirty="0"/>
              <a:t> cost for two differs widely across markets, so pricing needs to be </a:t>
            </a:r>
            <a:r>
              <a:rPr lang="en-US" dirty="0" err="1"/>
              <a:t>local.Our</a:t>
            </a:r>
            <a:r>
              <a:rPr lang="en-US" dirty="0"/>
              <a:t> recommendation: expand into low-competition countries with good ratings, and push online delivery and table booking.</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7</a:t>
            </a:fld>
            <a:endParaRPr lang="en-IN"/>
          </a:p>
        </p:txBody>
      </p:sp>
    </p:spTree>
    <p:extLst>
      <p:ext uri="{BB962C8B-B14F-4D97-AF65-F5344CB8AC3E}">
        <p14:creationId xmlns:p14="http://schemas.microsoft.com/office/powerpoint/2010/main" val="2710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Excluding India, which has 8,652 restaurants, let's see where competition is lowest The USA is the most crowded market with 434 restaurants, far ahead of the UK at 80 and the UAE, South Africa and Brazil at 60 each At the other end, markets like Australia, the Philippines, Indonesia, Sri Lanka, Singapore and Qatar have only 20 to 24 restaurants. Canada has just 4, which is the lowest competition of all The highlighted markets, New Zealand, Turkey and Qatar, are our shortlist: low competition with room to </a:t>
            </a:r>
            <a:r>
              <a:rPr lang="en-US" dirty="0" err="1"/>
              <a:t>grow.So</a:t>
            </a:r>
            <a:r>
              <a:rPr lang="en-US" dirty="0"/>
              <a:t> the opportunity is clear: avoid the crowded USA and focus on these low-competition markets.</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9</a:t>
            </a:fld>
            <a:endParaRPr lang="en-IN"/>
          </a:p>
        </p:txBody>
      </p:sp>
    </p:spTree>
    <p:extLst>
      <p:ext uri="{BB962C8B-B14F-4D97-AF65-F5344CB8AC3E}">
        <p14:creationId xmlns:p14="http://schemas.microsoft.com/office/powerpoint/2010/main" val="838814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how many restaurants opened each year from 2010 to 2018.The key message is stability. Every year, roughly 1,000 to 1,100 new restaurants opened, so the market has been consistently </a:t>
            </a:r>
            <a:r>
              <a:rPr lang="en-US" dirty="0" err="1"/>
              <a:t>active.Openings</a:t>
            </a:r>
            <a:r>
              <a:rPr lang="en-US" dirty="0"/>
              <a:t> started at 1,080 in 2010 and rose to 1,098 in 2011. They then dipped to 1,022 in 2012, and stayed in the 1,020 to 1,060 range until 2016.From 2017, openings picked up again, reaching 1,086 in 2017 and a peak of 1,102 in 2018.What this means for Zomato: restaurant growth is steady and the market is not slowing down, so expansion demand is healthy. Combined with the previous slide, we can direct this steady growth toward low-competition countries.</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10</a:t>
            </a:fld>
            <a:endParaRPr lang="en-IN"/>
          </a:p>
        </p:txBody>
      </p:sp>
    </p:spTree>
    <p:extLst>
      <p:ext uri="{BB962C8B-B14F-4D97-AF65-F5344CB8AC3E}">
        <p14:creationId xmlns:p14="http://schemas.microsoft.com/office/powerpoint/2010/main" val="211090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compare our three shortlisted markets: New Zealand, Qatar and Turkey On competition, New Zealand has about 40 restaurants, Turkey 34, and Qatar only 20. Qatar has the least competition On cost, Qatar stands out. The average cost for two is roughly three times higher than New Zealand and Turkey, which points to a premium dining market New Zealand and Turkey have lower, more affordable price points, which suggests a wider customer base So the choice depends on strategy. Qatar fits a premium, low-competition entry, while New Zealand and Turkey suit a volume-driven entry Our next step is to go deeper into city-level data within these countries</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11</a:t>
            </a:fld>
            <a:endParaRPr lang="en-IN"/>
          </a:p>
        </p:txBody>
      </p:sp>
    </p:spTree>
    <p:extLst>
      <p:ext uri="{BB962C8B-B14F-4D97-AF65-F5344CB8AC3E}">
        <p14:creationId xmlns:p14="http://schemas.microsoft.com/office/powerpoint/2010/main" val="2969019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the average rating of our three shortlisted markets Turkey leads with 4.30, followed closely by New Zealand at 4.26 and Qatar at 4.06. All three score above 4 out of 5.This matters because low competition alone isn't enough. These markets also have satisfied customers, which means demand for quality dining already exists So Zomato can enter these markets with confidence.</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12</a:t>
            </a:fld>
            <a:endParaRPr lang="en-IN"/>
          </a:p>
        </p:txBody>
      </p:sp>
    </p:spTree>
    <p:extLst>
      <p:ext uri="{BB962C8B-B14F-4D97-AF65-F5344CB8AC3E}">
        <p14:creationId xmlns:p14="http://schemas.microsoft.com/office/powerpoint/2010/main" val="733937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glance, Indonesia looks like the most expensive market, but that's a trap. These costs are in each country's own currency, and Indonesia's figure is in rupiah, so 280,000 doesn't mean it's expensive. We can't compare these bars across countries. So Zomato should price each market against its own local spending, not against Indian benchmarks</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13</a:t>
            </a:fld>
            <a:endParaRPr lang="en-IN"/>
          </a:p>
        </p:txBody>
      </p:sp>
    </p:spTree>
    <p:extLst>
      <p:ext uri="{BB962C8B-B14F-4D97-AF65-F5344CB8AC3E}">
        <p14:creationId xmlns:p14="http://schemas.microsoft.com/office/powerpoint/2010/main" val="2194515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where customers are most engaged, measured by average votes per restaurant. Indonesia leads at 772, followed by the UAE at 494, Turkey at 431 and the USA at 428. These are our benchmarks. India sits at just 137, so that's where the gap is widest. As Zomato expands, it should learn from these leaders to close that gap.</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14</a:t>
            </a:fld>
            <a:endParaRPr lang="en-IN"/>
          </a:p>
        </p:txBody>
      </p:sp>
    </p:spTree>
    <p:extLst>
      <p:ext uri="{BB962C8B-B14F-4D97-AF65-F5344CB8AC3E}">
        <p14:creationId xmlns:p14="http://schemas.microsoft.com/office/powerpoint/2010/main" val="1599282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which cuisines earn the best ratings, using only categories with at least 20 restaurant observations. International leads at 4.25, followed by Southern at 4.13, with Vegetarian and Sandwich at 4.07. The bottom four, Sushi, Indian, Bar Food and Steak, sit between 3.97 and 3.99, so the differences among them are tiny. International and Southern are the clear leaders, so as Zomato expands, it should promote these cuisines first</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15</a:t>
            </a:fld>
            <a:endParaRPr lang="en-IN"/>
          </a:p>
        </p:txBody>
      </p:sp>
    </p:spTree>
    <p:extLst>
      <p:ext uri="{BB962C8B-B14F-4D97-AF65-F5344CB8AC3E}">
        <p14:creationId xmlns:p14="http://schemas.microsoft.com/office/powerpoint/2010/main" val="933129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charts show how many restaurants offer table booking and online delivery. Out of 9,551 restaurants, only 1,158 (about 12%) offer table booking, and 2,451 (about 26%) offer online delivery. Both services are still under-adopted, with delivery well ahead of booking. That's the opportunity for Zomato: restaurants with these services tend to rate higher, so onboarding more of them is a clear growth lever.</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16</a:t>
            </a:fld>
            <a:endParaRPr lang="en-IN"/>
          </a:p>
        </p:txBody>
      </p:sp>
    </p:spTree>
    <p:extLst>
      <p:ext uri="{BB962C8B-B14F-4D97-AF65-F5344CB8AC3E}">
        <p14:creationId xmlns:p14="http://schemas.microsoft.com/office/powerpoint/2010/main" val="1100437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whether higher prices lead to better ratings. The correlation between cost and rating is just 0.059, essentially zero. Charging more does not buy a better rating. Across our shortlisted markets, Qatar skews premium, Turkey sits mostly in the middle, and New Zealand has the broadest mix. So Zomato should compete on quality, not price.</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17</a:t>
            </a:fld>
            <a:endParaRPr lang="en-IN"/>
          </a:p>
        </p:txBody>
      </p:sp>
    </p:spTree>
    <p:extLst>
      <p:ext uri="{BB962C8B-B14F-4D97-AF65-F5344CB8AC3E}">
        <p14:creationId xmlns:p14="http://schemas.microsoft.com/office/powerpoint/2010/main" val="2945162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to enter Qatar, Turkey and New Zealand, in that order. These three markets combine the lowest observed competition with above-benchmark ratings and enough listings to make the comparison meaningful. So Qatar first, then Turkey, then New Zealand.</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18</a:t>
            </a:fld>
            <a:endParaRPr lang="en-IN"/>
          </a:p>
        </p:txBody>
      </p:sp>
    </p:spTree>
    <p:extLst>
      <p:ext uri="{BB962C8B-B14F-4D97-AF65-F5344CB8AC3E}">
        <p14:creationId xmlns:p14="http://schemas.microsoft.com/office/powerpoint/2010/main" val="1747613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t>
            </a:r>
            <a:r>
              <a:rPr lang="en-US" dirty="0" err="1"/>
              <a:t>analysed</a:t>
            </a:r>
            <a:r>
              <a:rPr lang="en-US" dirty="0"/>
              <a:t> 15 countries and 9,551 listings through a seven-step framework, and everything points the same way. Growth no longer comes from fighting harder in India, but from entering the right markets in the right order. Qatar, Turkey and New Zealand clear the bar on both competition and quality. That is a shortlist management can act on with confidence</a:t>
            </a:r>
            <a:endParaRPr lang="en-IN" dirty="0"/>
          </a:p>
        </p:txBody>
      </p:sp>
      <p:sp>
        <p:nvSpPr>
          <p:cNvPr id="4" name="Slide Number Placeholder 3"/>
          <p:cNvSpPr>
            <a:spLocks noGrp="1"/>
          </p:cNvSpPr>
          <p:nvPr>
            <p:ph type="sldNum" sz="quarter" idx="5"/>
          </p:nvPr>
        </p:nvSpPr>
        <p:spPr/>
        <p:txBody>
          <a:bodyPr/>
          <a:lstStyle/>
          <a:p>
            <a:fld id="{95F11BD2-DF82-4E9F-995E-6DEE49F40433}" type="slidenum">
              <a:rPr lang="en-IN" smtClean="0"/>
              <a:t>19</a:t>
            </a:fld>
            <a:endParaRPr lang="en-IN"/>
          </a:p>
        </p:txBody>
      </p:sp>
    </p:spTree>
    <p:extLst>
      <p:ext uri="{BB962C8B-B14F-4D97-AF65-F5344CB8AC3E}">
        <p14:creationId xmlns:p14="http://schemas.microsoft.com/office/powerpoint/2010/main" val="252231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8"/>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D0A242D-9AAD-42B0-A44A-295DEEEC74B3}"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303765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0A242D-9AAD-42B0-A44A-295DEEEC74B3}"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2550599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4" y="4406903"/>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4"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0A242D-9AAD-42B0-A44A-295DEEEC74B3}"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3312306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3"/>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3"/>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0A242D-9AAD-42B0-A44A-295DEEEC74B3}"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410137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2" y="1535113"/>
            <a:ext cx="538551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2" y="2174875"/>
            <a:ext cx="538551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5"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5"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0A242D-9AAD-42B0-A44A-295DEEEC74B3}"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355939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0A242D-9AAD-42B0-A44A-295DEEEC74B3}"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1279881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A242D-9AAD-42B0-A44A-295DEEEC74B3}"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3832823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3050"/>
            <a:ext cx="4010040"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1" y="1435102"/>
            <a:ext cx="401004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0A242D-9AAD-42B0-A44A-295DEEEC74B3}"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66430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6"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6"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6"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0A242D-9AAD-42B0-A44A-295DEEEC74B3}"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1008799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0A242D-9AAD-42B0-A44A-295DEEEC74B3}"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4135752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0A242D-9AAD-42B0-A44A-295DEEEC74B3}"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A0989-1AAD-4CD6-8B4F-C93CDC04402E}" type="slidenum">
              <a:rPr lang="en-US" smtClean="0"/>
              <a:t>‹#›</a:t>
            </a:fld>
            <a:endParaRPr lang="en-US"/>
          </a:p>
        </p:txBody>
      </p:sp>
    </p:spTree>
    <p:extLst>
      <p:ext uri="{BB962C8B-B14F-4D97-AF65-F5344CB8AC3E}">
        <p14:creationId xmlns:p14="http://schemas.microsoft.com/office/powerpoint/2010/main" val="4252478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3"/>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3"/>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A242D-9AAD-42B0-A44A-295DEEEC74B3}" type="datetimeFigureOut">
              <a:rPr lang="en-US" smtClean="0"/>
              <a:t>10/4/2026</a:t>
            </a:fld>
            <a:endParaRPr lang="en-US"/>
          </a:p>
        </p:txBody>
      </p:sp>
      <p:sp>
        <p:nvSpPr>
          <p:cNvPr id="5" name="Footer Placeholder 4"/>
          <p:cNvSpPr>
            <a:spLocks noGrp="1"/>
          </p:cNvSpPr>
          <p:nvPr>
            <p:ph type="ftr" sz="quarter" idx="3"/>
          </p:nvPr>
        </p:nvSpPr>
        <p:spPr>
          <a:xfrm>
            <a:off x="4164515" y="6356353"/>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3"/>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EA0989-1AAD-4CD6-8B4F-C93CDC04402E}" type="slidenum">
              <a:rPr lang="en-US" smtClean="0"/>
              <a:t>‹#›</a:t>
            </a:fld>
            <a:endParaRPr lang="en-US"/>
          </a:p>
        </p:txBody>
      </p:sp>
    </p:spTree>
    <p:extLst>
      <p:ext uri="{BB962C8B-B14F-4D97-AF65-F5344CB8AC3E}">
        <p14:creationId xmlns:p14="http://schemas.microsoft.com/office/powerpoint/2010/main" val="4268803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chart" Target="../charts/char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16D51A0-7410-FDF5-D9D3-AB9F883A8E17}"/>
              </a:ext>
            </a:extLst>
          </p:cNvPr>
          <p:cNvSpPr txBox="1"/>
          <p:nvPr/>
        </p:nvSpPr>
        <p:spPr>
          <a:xfrm>
            <a:off x="1827212" y="2971800"/>
            <a:ext cx="8991600" cy="707886"/>
          </a:xfrm>
          <a:prstGeom prst="rect">
            <a:avLst/>
          </a:prstGeom>
          <a:noFill/>
        </p:spPr>
        <p:txBody>
          <a:bodyPr wrap="square" rtlCol="0">
            <a:spAutoFit/>
          </a:bodyPr>
          <a:lstStyle/>
          <a:p>
            <a:r>
              <a:rPr lang="en-US" sz="4000" b="1" dirty="0"/>
              <a:t>Zomato Dashboard Project by Priyanka</a:t>
            </a:r>
            <a:endParaRPr lang="en-IN" sz="4000" b="1" dirty="0"/>
          </a:p>
        </p:txBody>
      </p:sp>
    </p:spTree>
    <p:extLst>
      <p:ext uri="{BB962C8B-B14F-4D97-AF65-F5344CB8AC3E}">
        <p14:creationId xmlns:p14="http://schemas.microsoft.com/office/powerpoint/2010/main" val="1524156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A37B4C-B989-0A3D-A78D-AF4B782126B9}"/>
              </a:ext>
            </a:extLst>
          </p:cNvPr>
          <p:cNvSpPr txBox="1"/>
          <p:nvPr/>
        </p:nvSpPr>
        <p:spPr>
          <a:xfrm>
            <a:off x="1141412" y="838200"/>
            <a:ext cx="10058400" cy="523220"/>
          </a:xfrm>
          <a:prstGeom prst="rect">
            <a:avLst/>
          </a:prstGeom>
          <a:noFill/>
        </p:spPr>
        <p:txBody>
          <a:bodyPr wrap="square" rtlCol="0">
            <a:spAutoFit/>
          </a:bodyPr>
          <a:lstStyle/>
          <a:p>
            <a:r>
              <a:rPr lang="en-US" dirty="0"/>
              <a:t>                                                                     </a:t>
            </a:r>
            <a:r>
              <a:rPr lang="en-US" sz="2800" b="1" dirty="0"/>
              <a:t>Problem Statement</a:t>
            </a:r>
            <a:endParaRPr lang="en-IN" sz="2800" b="1" dirty="0"/>
          </a:p>
        </p:txBody>
      </p:sp>
      <p:sp>
        <p:nvSpPr>
          <p:cNvPr id="6" name="TextBox 5">
            <a:extLst>
              <a:ext uri="{FF2B5EF4-FFF2-40B4-BE49-F238E27FC236}">
                <a16:creationId xmlns:a16="http://schemas.microsoft.com/office/drawing/2014/main" id="{27EF1D7B-D036-C8B3-9E72-EFDF6FB133A3}"/>
              </a:ext>
            </a:extLst>
          </p:cNvPr>
          <p:cNvSpPr txBox="1"/>
          <p:nvPr/>
        </p:nvSpPr>
        <p:spPr>
          <a:xfrm>
            <a:off x="1370012" y="1701498"/>
            <a:ext cx="9829800" cy="1815882"/>
          </a:xfrm>
          <a:prstGeom prst="rect">
            <a:avLst/>
          </a:prstGeom>
          <a:noFill/>
        </p:spPr>
        <p:txBody>
          <a:bodyPr wrap="square" rtlCol="0">
            <a:spAutoFit/>
          </a:bodyPr>
          <a:lstStyle/>
          <a:p>
            <a:pPr marL="571500" indent="-571500">
              <a:buFont typeface="Wingdings" panose="05000000000000000000" pitchFamily="2" charset="2"/>
              <a:buChar char="Ø"/>
            </a:pPr>
            <a:r>
              <a:rPr lang="en-US" sz="2800" b="1" dirty="0"/>
              <a:t>India is saturated: </a:t>
            </a:r>
            <a:r>
              <a:rPr lang="en-US" sz="2800" dirty="0"/>
              <a:t>90%+ of Zomato listings are in India.</a:t>
            </a:r>
          </a:p>
          <a:p>
            <a:pPr marL="457200" indent="-457200">
              <a:buFont typeface="Wingdings" panose="05000000000000000000" pitchFamily="2" charset="2"/>
              <a:buChar char="Ø"/>
            </a:pPr>
            <a:r>
              <a:rPr lang="en-US" sz="2800" b="1" dirty="0"/>
              <a:t>Question:</a:t>
            </a:r>
            <a:r>
              <a:rPr lang="en-US" sz="2800" dirty="0"/>
              <a:t> Where should Zomato open new restaurants outside   India?</a:t>
            </a:r>
          </a:p>
          <a:p>
            <a:pPr marL="457200" indent="-457200">
              <a:buFont typeface="Wingdings" panose="05000000000000000000" pitchFamily="2" charset="2"/>
              <a:buChar char="Ø"/>
            </a:pPr>
            <a:r>
              <a:rPr lang="en-US" sz="2800" b="1" dirty="0"/>
              <a:t>Goal:</a:t>
            </a:r>
            <a:r>
              <a:rPr lang="en-US" sz="2800" dirty="0"/>
              <a:t> Find markets with low competition and high quality.</a:t>
            </a:r>
            <a:endParaRPr lang="en-IN" sz="4000" dirty="0"/>
          </a:p>
        </p:txBody>
      </p:sp>
      <p:sp>
        <p:nvSpPr>
          <p:cNvPr id="8" name="TextBox 7">
            <a:extLst>
              <a:ext uri="{FF2B5EF4-FFF2-40B4-BE49-F238E27FC236}">
                <a16:creationId xmlns:a16="http://schemas.microsoft.com/office/drawing/2014/main" id="{4B523AA4-5691-2746-AB75-F00C10262BDD}"/>
              </a:ext>
            </a:extLst>
          </p:cNvPr>
          <p:cNvSpPr txBox="1"/>
          <p:nvPr/>
        </p:nvSpPr>
        <p:spPr>
          <a:xfrm>
            <a:off x="1598612" y="1686109"/>
            <a:ext cx="10058400" cy="369332"/>
          </a:xfrm>
          <a:prstGeom prst="rect">
            <a:avLst/>
          </a:prstGeom>
          <a:noFill/>
        </p:spPr>
        <p:txBody>
          <a:bodyPr wrap="square" rtlCol="0">
            <a:spAutoFit/>
          </a:bodyPr>
          <a:lstStyle/>
          <a:p>
            <a:r>
              <a:rPr lang="en-US" dirty="0"/>
              <a:t>                </a:t>
            </a:r>
            <a:endParaRPr lang="en-IN" dirty="0"/>
          </a:p>
        </p:txBody>
      </p:sp>
    </p:spTree>
    <p:extLst>
      <p:ext uri="{BB962C8B-B14F-4D97-AF65-F5344CB8AC3E}">
        <p14:creationId xmlns:p14="http://schemas.microsoft.com/office/powerpoint/2010/main" val="3383560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77EE3B-E968-1F81-A0D8-BC4355149E56}"/>
              </a:ext>
            </a:extLst>
          </p:cNvPr>
          <p:cNvSpPr txBox="1"/>
          <p:nvPr/>
        </p:nvSpPr>
        <p:spPr>
          <a:xfrm>
            <a:off x="608012" y="381000"/>
            <a:ext cx="10744200" cy="4216539"/>
          </a:xfrm>
          <a:prstGeom prst="rect">
            <a:avLst/>
          </a:prstGeom>
          <a:noFill/>
        </p:spPr>
        <p:txBody>
          <a:bodyPr wrap="square" rtlCol="0">
            <a:spAutoFit/>
          </a:bodyPr>
          <a:lstStyle/>
          <a:p>
            <a:r>
              <a:rPr lang="en-IN" dirty="0"/>
              <a:t>                                                                </a:t>
            </a:r>
            <a:r>
              <a:rPr lang="en-IN" sz="2800" dirty="0"/>
              <a:t>Data Overview</a:t>
            </a:r>
          </a:p>
          <a:p>
            <a:pPr marL="457200" indent="-457200">
              <a:buFont typeface="Wingdings" panose="05000000000000000000" pitchFamily="2" charset="2"/>
              <a:buChar char="Ø"/>
            </a:pPr>
            <a:r>
              <a:rPr lang="en-IN" sz="2400" b="1" dirty="0"/>
              <a:t>Dataset:</a:t>
            </a:r>
            <a:r>
              <a:rPr lang="en-IN" sz="2400" dirty="0"/>
              <a:t> 9,551 Zomato restaurant listings.</a:t>
            </a:r>
          </a:p>
          <a:p>
            <a:pPr marL="342900" indent="-342900">
              <a:buFont typeface="Wingdings" panose="05000000000000000000" pitchFamily="2" charset="2"/>
              <a:buChar char="Ø"/>
            </a:pPr>
            <a:r>
              <a:rPr lang="en-IN" sz="2400" b="1" dirty="0"/>
              <a:t>  Coverage: </a:t>
            </a:r>
            <a:r>
              <a:rPr lang="en-IN" sz="2400" dirty="0"/>
              <a:t>15 countries(India has 8,652 </a:t>
            </a:r>
            <a:r>
              <a:rPr lang="en-IN" sz="2400" dirty="0" err="1"/>
              <a:t>listings,the</a:t>
            </a:r>
            <a:r>
              <a:rPr lang="en-IN" sz="2400" dirty="0"/>
              <a:t> rest have 4 to 434  each).</a:t>
            </a:r>
          </a:p>
          <a:p>
            <a:pPr marL="342900" indent="-342900">
              <a:buFont typeface="Wingdings" panose="05000000000000000000" pitchFamily="2" charset="2"/>
              <a:buChar char="Ø"/>
            </a:pPr>
            <a:r>
              <a:rPr lang="en-IN" sz="2400" dirty="0"/>
              <a:t>   </a:t>
            </a:r>
            <a:r>
              <a:rPr lang="en-IN" sz="2400" b="1" dirty="0"/>
              <a:t>Time Period:</a:t>
            </a:r>
            <a:r>
              <a:rPr lang="en-IN" sz="2400" dirty="0"/>
              <a:t> Restaurant openings from 1010 to 2018.</a:t>
            </a:r>
          </a:p>
          <a:p>
            <a:pPr marL="342900" indent="-342900">
              <a:buFont typeface="Wingdings" panose="05000000000000000000" pitchFamily="2" charset="2"/>
              <a:buChar char="Ø"/>
            </a:pPr>
            <a:r>
              <a:rPr lang="en-IN" sz="2400" b="1" dirty="0"/>
              <a:t>   Key Fields:</a:t>
            </a:r>
            <a:r>
              <a:rPr lang="en-IN" sz="2400" dirty="0"/>
              <a:t> </a:t>
            </a:r>
            <a:r>
              <a:rPr lang="en-IN" sz="2400" dirty="0" err="1"/>
              <a:t>Country,City,Cuisines,Average</a:t>
            </a:r>
            <a:r>
              <a:rPr lang="en-IN" sz="2400" dirty="0"/>
              <a:t> Cost for </a:t>
            </a:r>
            <a:r>
              <a:rPr lang="en-IN" sz="2400" dirty="0" err="1"/>
              <a:t>Two,Rating.Votes</a:t>
            </a:r>
            <a:r>
              <a:rPr lang="en-IN" sz="2400" dirty="0"/>
              <a:t>, Price Range,</a:t>
            </a:r>
          </a:p>
          <a:p>
            <a:pPr marL="342900" indent="-342900">
              <a:buFont typeface="Wingdings" panose="05000000000000000000" pitchFamily="2" charset="2"/>
              <a:buChar char="Ø"/>
            </a:pPr>
            <a:r>
              <a:rPr lang="en-IN" sz="2400" dirty="0"/>
              <a:t>                        Online </a:t>
            </a:r>
            <a:r>
              <a:rPr lang="en-IN" sz="2400" dirty="0" err="1"/>
              <a:t>Delivery,Table</a:t>
            </a:r>
            <a:r>
              <a:rPr lang="en-IN" sz="2400" dirty="0"/>
              <a:t> Booking.                </a:t>
            </a:r>
          </a:p>
          <a:p>
            <a:pPr marL="342900" indent="-342900">
              <a:buFont typeface="Wingdings" panose="05000000000000000000" pitchFamily="2" charset="2"/>
              <a:buChar char="Ø"/>
            </a:pPr>
            <a:r>
              <a:rPr lang="en-IN" sz="2400" b="1" dirty="0"/>
              <a:t>   Data Prep: </a:t>
            </a:r>
            <a:r>
              <a:rPr lang="en-IN" sz="2400" dirty="0"/>
              <a:t>Cleaned and structured in </a:t>
            </a:r>
            <a:r>
              <a:rPr lang="en-IN" sz="2400" dirty="0" err="1"/>
              <a:t>Excel.then</a:t>
            </a:r>
            <a:r>
              <a:rPr lang="en-IN" sz="2400" dirty="0"/>
              <a:t> </a:t>
            </a:r>
            <a:r>
              <a:rPr lang="en-IN" sz="2400" dirty="0" err="1"/>
              <a:t>analyzed</a:t>
            </a:r>
            <a:r>
              <a:rPr lang="en-IN" sz="2400" dirty="0"/>
              <a:t> with pivot</a:t>
            </a:r>
          </a:p>
          <a:p>
            <a:pPr marL="342900" indent="-342900">
              <a:buFont typeface="Wingdings" panose="05000000000000000000" pitchFamily="2" charset="2"/>
              <a:buChar char="Ø"/>
            </a:pPr>
            <a:r>
              <a:rPr lang="en-IN" sz="2400" dirty="0"/>
              <a:t>                          tables and charts in the dashboard.</a:t>
            </a:r>
          </a:p>
          <a:p>
            <a:endParaRPr lang="en-IN" sz="2400" dirty="0"/>
          </a:p>
          <a:p>
            <a:r>
              <a:rPr lang="en-IN" sz="2400" dirty="0"/>
              <a:t>                         </a:t>
            </a:r>
          </a:p>
          <a:p>
            <a:r>
              <a:rPr lang="en-IN" sz="2400" dirty="0"/>
              <a:t>                       </a:t>
            </a:r>
            <a:endParaRPr lang="en-IN" dirty="0"/>
          </a:p>
        </p:txBody>
      </p:sp>
    </p:spTree>
    <p:extLst>
      <p:ext uri="{BB962C8B-B14F-4D97-AF65-F5344CB8AC3E}">
        <p14:creationId xmlns:p14="http://schemas.microsoft.com/office/powerpoint/2010/main" val="7628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5"/>
          <p:cNvSpPr txBox="1">
            <a:spLocks noGrp="1"/>
          </p:cNvSpPr>
          <p:nvPr>
            <p:ph type="ctrTitle"/>
          </p:nvPr>
        </p:nvSpPr>
        <p:spPr>
          <a:xfrm>
            <a:off x="3373089" y="1524000"/>
            <a:ext cx="5083523" cy="2209800"/>
          </a:xfrm>
          <a:prstGeom prst="rect">
            <a:avLst/>
          </a:prstGeom>
          <a:noFill/>
          <a:ln/>
        </p:spPr>
        <p:txBody>
          <a:bodyPr wrap="square" lIns="0" tIns="0" rIns="0" bIns="0" rtlCol="0" anchor="ctr">
            <a:normAutofit fontScale="90000"/>
          </a:bodyP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Choosing the next markets</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  for new restaurant openings</a:t>
            </a:r>
            <a:endParaRPr lang="en-US" sz="3800" dirty="0"/>
          </a:p>
        </p:txBody>
      </p:sp>
      <p:sp>
        <p:nvSpPr>
          <p:cNvPr id="11" name="Text 6"/>
          <p:cNvSpPr txBox="1"/>
          <p:nvPr/>
        </p:nvSpPr>
        <p:spPr>
          <a:xfrm>
            <a:off x="3380737" y="3962400"/>
            <a:ext cx="9019731" cy="914400"/>
          </a:xfrm>
          <a:prstGeom prst="rect">
            <a:avLst/>
          </a:prstGeom>
          <a:noFill/>
          <a:ln/>
        </p:spPr>
        <p:txBody>
          <a:bodyPr wrap="square" lIns="0" tIns="0" rIns="0" bIns="0" rtlCol="0" anchor="ctr"/>
          <a:lstStyle/>
          <a:p>
            <a:pPr marL="0" indent="0">
              <a:lnSpc>
                <a:spcPct val="125000"/>
              </a:lnSpc>
              <a:buNone/>
            </a:pPr>
            <a:r>
              <a:rPr lang="en-US" sz="1400" dirty="0">
                <a:solidFill>
                  <a:srgbClr val="D8D5D2"/>
                </a:solidFill>
                <a:latin typeface="Calibri" pitchFamily="34" charset="0"/>
                <a:ea typeface="Calibri" pitchFamily="34" charset="-122"/>
                <a:cs typeface="Calibri" pitchFamily="34" charset="-120"/>
              </a:rPr>
              <a:t>A data-driven review of 9,551 restaurant listings across 15 countries to identify</a:t>
            </a:r>
            <a:endParaRPr lang="en-US" sz="1400" dirty="0"/>
          </a:p>
          <a:p>
            <a:pPr marL="0" indent="0">
              <a:lnSpc>
                <a:spcPct val="125000"/>
              </a:lnSpc>
              <a:buNone/>
            </a:pPr>
            <a:r>
              <a:rPr lang="en-US" sz="1400" dirty="0">
                <a:solidFill>
                  <a:srgbClr val="D8D5D2"/>
                </a:solidFill>
                <a:latin typeface="Calibri" pitchFamily="34" charset="0"/>
                <a:ea typeface="Calibri" pitchFamily="34" charset="-122"/>
                <a:cs typeface="Calibri" pitchFamily="34" charset="-120"/>
              </a:rPr>
              <a:t>low-competition, high-quality markets for Zomato's next expansion.</a:t>
            </a:r>
            <a:endParaRPr lang="en-US" sz="1400" dirty="0"/>
          </a:p>
        </p:txBody>
      </p:sp>
    </p:spTree>
    <p:extLst>
      <p:ext uri="{BB962C8B-B14F-4D97-AF65-F5344CB8AC3E}">
        <p14:creationId xmlns:p14="http://schemas.microsoft.com/office/powerpoint/2010/main" val="226985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1"/>
          <p:cNvSpPr txBox="1"/>
          <p:nvPr/>
        </p:nvSpPr>
        <p:spPr>
          <a:xfrm>
            <a:off x="273248" y="381000"/>
            <a:ext cx="11884104" cy="731520"/>
          </a:xfrm>
          <a:prstGeom prst="rect">
            <a:avLst/>
          </a:prstGeom>
          <a:noFill/>
          <a:ln/>
        </p:spPr>
        <p:txBody>
          <a:bodyPr wrap="square" lIns="0" tIns="0" rIns="0" bIns="0" rtlCol="0" anchor="ctr"/>
          <a:lstStyle/>
          <a:p>
            <a:pPr marL="0" indent="0">
              <a:buNone/>
            </a:pPr>
            <a:r>
              <a:rPr lang="en-US" sz="3200" b="1" dirty="0">
                <a:solidFill>
                  <a:srgbClr val="262626"/>
                </a:solidFill>
                <a:latin typeface="Cambria" pitchFamily="34" charset="0"/>
                <a:ea typeface="Cambria" pitchFamily="34" charset="-122"/>
              </a:rPr>
              <a:t>Where should Zomato grow next?</a:t>
            </a:r>
            <a:endParaRPr lang="en-US" sz="2800" dirty="0"/>
          </a:p>
        </p:txBody>
      </p:sp>
      <p:sp>
        <p:nvSpPr>
          <p:cNvPr id="7" name="Text 2"/>
          <p:cNvSpPr txBox="1"/>
          <p:nvPr/>
        </p:nvSpPr>
        <p:spPr>
          <a:xfrm>
            <a:off x="311873" y="1219200"/>
            <a:ext cx="8532178" cy="1554480"/>
          </a:xfrm>
          <a:prstGeom prst="rect">
            <a:avLst/>
          </a:prstGeom>
          <a:noFill/>
          <a:ln/>
        </p:spPr>
        <p:txBody>
          <a:bodyPr wrap="square" lIns="0" tIns="0" rIns="0" bIns="0" rtlCol="0" anchor="ctr"/>
          <a:lstStyle/>
          <a:p>
            <a:pPr marL="0" indent="0">
              <a:lnSpc>
                <a:spcPct val="130000"/>
              </a:lnSpc>
              <a:buNone/>
            </a:pPr>
            <a:r>
              <a:rPr lang="en-US" sz="1600" dirty="0">
                <a:solidFill>
                  <a:srgbClr val="262626"/>
                </a:solidFill>
                <a:latin typeface="Calibri" pitchFamily="34" charset="0"/>
                <a:ea typeface="Calibri" pitchFamily="34" charset="-122"/>
                <a:cs typeface="Calibri" pitchFamily="34" charset="-120"/>
              </a:rPr>
              <a:t>Zomato's</a:t>
            </a:r>
            <a:r>
              <a:rPr lang="en-US" sz="1450" dirty="0">
                <a:solidFill>
                  <a:srgbClr val="262626"/>
                </a:solidFill>
                <a:latin typeface="Calibri" pitchFamily="34" charset="0"/>
                <a:ea typeface="Calibri" pitchFamily="34" charset="-122"/>
                <a:cs typeface="Calibri" pitchFamily="34" charset="-120"/>
              </a:rPr>
              <a:t> core market is heavily concentrated: of 9,551 restaurant listings in the dataset, 8,652 (over 90%) are already in India. Growth in the home market is increasingly a fight over existing demand, while several international markets remain comparatively under-served.</a:t>
            </a:r>
            <a:endParaRPr lang="en-US" sz="1450" dirty="0"/>
          </a:p>
        </p:txBody>
      </p:sp>
      <p:sp>
        <p:nvSpPr>
          <p:cNvPr id="8" name="Text 3"/>
          <p:cNvSpPr txBox="1"/>
          <p:nvPr/>
        </p:nvSpPr>
        <p:spPr>
          <a:xfrm>
            <a:off x="311873" y="2783983"/>
            <a:ext cx="8532178" cy="365760"/>
          </a:xfrm>
          <a:prstGeom prst="rect">
            <a:avLst/>
          </a:prstGeom>
          <a:noFill/>
          <a:ln/>
        </p:spPr>
        <p:txBody>
          <a:bodyPr wrap="square" lIns="0" tIns="0" rIns="0" bIns="0"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The question Zomato's management needs answered:</a:t>
            </a:r>
            <a:endParaRPr lang="en-US" sz="1300" dirty="0"/>
          </a:p>
        </p:txBody>
      </p:sp>
      <p:graphicFrame>
        <p:nvGraphicFramePr>
          <p:cNvPr id="9" name="Chart 8"/>
          <p:cNvGraphicFramePr>
            <a:graphicFrameLocks/>
          </p:cNvGraphicFramePr>
          <p:nvPr>
            <p:extLst>
              <p:ext uri="{D42A27DB-BD31-4B8C-83A1-F6EECF244321}">
                <p14:modId xmlns:p14="http://schemas.microsoft.com/office/powerpoint/2010/main" val="3465093431"/>
              </p:ext>
            </p:extLst>
          </p:nvPr>
        </p:nvGraphicFramePr>
        <p:xfrm>
          <a:off x="1141412" y="3276600"/>
          <a:ext cx="9982200" cy="34353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3237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300964" y="108612"/>
            <a:ext cx="11884104" cy="731520"/>
          </a:xfrm>
          <a:prstGeom prst="rect">
            <a:avLst/>
          </a:prstGeom>
          <a:noFill/>
          <a:ln/>
        </p:spPr>
        <p:txBody>
          <a:bodyPr wrap="square" lIns="0" tIns="0" rIns="0" bIns="0" rtlCol="0" anchor="ctr"/>
          <a:lstStyle/>
          <a:p>
            <a:pPr marL="0" indent="0">
              <a:buNone/>
            </a:pPr>
            <a:r>
              <a:rPr lang="en-US" sz="2800" b="1" dirty="0">
                <a:solidFill>
                  <a:srgbClr val="262626"/>
                </a:solidFill>
                <a:latin typeface="Cambria" pitchFamily="34" charset="0"/>
                <a:ea typeface="Cambria" pitchFamily="34" charset="-122"/>
                <a:cs typeface="Cambria" pitchFamily="34" charset="-120"/>
              </a:rPr>
              <a:t>A seven-step framework, from data to decision</a:t>
            </a:r>
            <a:endParaRPr lang="en-US" sz="2800" dirty="0"/>
          </a:p>
        </p:txBody>
      </p:sp>
      <p:sp>
        <p:nvSpPr>
          <p:cNvPr id="4" name="Text 1"/>
          <p:cNvSpPr txBox="1"/>
          <p:nvPr/>
        </p:nvSpPr>
        <p:spPr>
          <a:xfrm>
            <a:off x="448020" y="1175841"/>
            <a:ext cx="11589992" cy="5453559"/>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457200" indent="-457200">
              <a:buAutoNum type="arabicPeriod"/>
            </a:pPr>
            <a:r>
              <a:rPr lang="en-US" sz="2400" b="1" dirty="0">
                <a:solidFill>
                  <a:srgbClr val="262626"/>
                </a:solidFill>
                <a:latin typeface="Cambria" pitchFamily="34" charset="0"/>
                <a:ea typeface="Cambria" pitchFamily="34" charset="-122"/>
                <a:cs typeface="Cambria" pitchFamily="34" charset="-120"/>
              </a:rPr>
              <a:t>Define the problem — </a:t>
            </a:r>
            <a:r>
              <a:rPr lang="en-US" sz="2400" dirty="0">
                <a:solidFill>
                  <a:srgbClr val="262626"/>
                </a:solidFill>
                <a:latin typeface="Cambria" pitchFamily="34" charset="0"/>
                <a:ea typeface="Cambria" pitchFamily="34" charset="-122"/>
                <a:cs typeface="Cambria" pitchFamily="34" charset="-120"/>
              </a:rPr>
              <a:t>Where should </a:t>
            </a:r>
            <a:r>
              <a:rPr lang="en-US" sz="2400" dirty="0" err="1">
                <a:solidFill>
                  <a:srgbClr val="262626"/>
                </a:solidFill>
                <a:latin typeface="Cambria" pitchFamily="34" charset="0"/>
                <a:ea typeface="Cambria" pitchFamily="34" charset="-122"/>
                <a:cs typeface="Cambria" pitchFamily="34" charset="-120"/>
              </a:rPr>
              <a:t>Zomato</a:t>
            </a:r>
            <a:r>
              <a:rPr lang="en-US" sz="2400" dirty="0">
                <a:solidFill>
                  <a:srgbClr val="262626"/>
                </a:solidFill>
                <a:latin typeface="Cambria" pitchFamily="34" charset="0"/>
                <a:ea typeface="Cambria" pitchFamily="34" charset="-122"/>
                <a:cs typeface="Cambria" pitchFamily="34" charset="-120"/>
              </a:rPr>
              <a:t> expand outside India?</a:t>
            </a:r>
          </a:p>
          <a:p>
            <a:endParaRPr lang="en-US" sz="2400" b="1" dirty="0">
              <a:solidFill>
                <a:srgbClr val="262626"/>
              </a:solidFill>
              <a:latin typeface="Cambria" pitchFamily="34" charset="0"/>
              <a:ea typeface="Cambria" pitchFamily="34" charset="-122"/>
              <a:cs typeface="Cambria" pitchFamily="34" charset="-120"/>
            </a:endParaRPr>
          </a:p>
          <a:p>
            <a:r>
              <a:rPr lang="en-US" sz="2400" b="1" dirty="0">
                <a:solidFill>
                  <a:srgbClr val="262626"/>
                </a:solidFill>
                <a:latin typeface="Cambria" pitchFamily="34" charset="0"/>
                <a:ea typeface="Cambria" pitchFamily="34" charset="-122"/>
                <a:cs typeface="Cambria" pitchFamily="34" charset="-120"/>
              </a:rPr>
              <a:t>2. Clean &amp; prepare data — </a:t>
            </a:r>
            <a:r>
              <a:rPr lang="en-US" sz="2400" dirty="0">
                <a:solidFill>
                  <a:srgbClr val="262626"/>
                </a:solidFill>
                <a:latin typeface="Cambria" pitchFamily="34" charset="0"/>
                <a:ea typeface="Cambria" pitchFamily="34" charset="-122"/>
                <a:cs typeface="Cambria" pitchFamily="34" charset="-120"/>
              </a:rPr>
              <a:t>9,551 listings across 15 countries, structured for analysis</a:t>
            </a:r>
          </a:p>
          <a:p>
            <a:endParaRPr lang="en-US" sz="2400" b="1" dirty="0">
              <a:solidFill>
                <a:srgbClr val="262626"/>
              </a:solidFill>
              <a:latin typeface="Cambria" pitchFamily="34" charset="0"/>
              <a:ea typeface="Cambria" pitchFamily="34" charset="-122"/>
              <a:cs typeface="Cambria" pitchFamily="34" charset="-120"/>
            </a:endParaRPr>
          </a:p>
          <a:p>
            <a:r>
              <a:rPr lang="en-US" sz="2400" b="1" dirty="0">
                <a:solidFill>
                  <a:srgbClr val="262626"/>
                </a:solidFill>
                <a:latin typeface="Cambria" pitchFamily="34" charset="0"/>
                <a:ea typeface="Cambria" pitchFamily="34" charset="-122"/>
                <a:cs typeface="Cambria" pitchFamily="34" charset="-120"/>
              </a:rPr>
              <a:t>3. Objective analysis — </a:t>
            </a:r>
            <a:r>
              <a:rPr lang="en-US" sz="2400" dirty="0">
                <a:solidFill>
                  <a:srgbClr val="262626"/>
                </a:solidFill>
                <a:latin typeface="Cambria" pitchFamily="34" charset="0"/>
                <a:ea typeface="Cambria" pitchFamily="34" charset="-122"/>
                <a:cs typeface="Cambria" pitchFamily="34" charset="-120"/>
              </a:rPr>
              <a:t>Competition levels &amp; growth trends by country</a:t>
            </a:r>
          </a:p>
          <a:p>
            <a:endParaRPr lang="en-US" sz="2400" b="1" dirty="0">
              <a:solidFill>
                <a:srgbClr val="262626"/>
              </a:solidFill>
              <a:latin typeface="Cambria" pitchFamily="34" charset="0"/>
              <a:ea typeface="Cambria" pitchFamily="34" charset="-122"/>
              <a:cs typeface="Cambria" pitchFamily="34" charset="-120"/>
            </a:endParaRPr>
          </a:p>
          <a:p>
            <a:r>
              <a:rPr lang="en-US" sz="2400" b="1" dirty="0">
                <a:solidFill>
                  <a:srgbClr val="262626"/>
                </a:solidFill>
                <a:latin typeface="Cambria" pitchFamily="34" charset="0"/>
                <a:ea typeface="Cambria" pitchFamily="34" charset="-122"/>
                <a:cs typeface="Cambria" pitchFamily="34" charset="-120"/>
              </a:rPr>
              <a:t>4. Subjective analysis — </a:t>
            </a:r>
            <a:r>
              <a:rPr lang="en-US" sz="2400" dirty="0">
                <a:solidFill>
                  <a:srgbClr val="262626"/>
                </a:solidFill>
                <a:latin typeface="Cambria" pitchFamily="34" charset="0"/>
                <a:ea typeface="Cambria" pitchFamily="34" charset="-122"/>
                <a:cs typeface="Cambria" pitchFamily="34" charset="-120"/>
              </a:rPr>
              <a:t>Quality, pricing, cuisine, and engagement by market</a:t>
            </a:r>
          </a:p>
          <a:p>
            <a:endParaRPr lang="en-US" sz="2400" b="1" dirty="0">
              <a:solidFill>
                <a:srgbClr val="262626"/>
              </a:solidFill>
              <a:latin typeface="Cambria" pitchFamily="34" charset="0"/>
              <a:ea typeface="Cambria" pitchFamily="34" charset="-122"/>
              <a:cs typeface="Cambria" pitchFamily="34" charset="-120"/>
            </a:endParaRPr>
          </a:p>
          <a:p>
            <a:r>
              <a:rPr lang="en-US" sz="2400" b="1" dirty="0">
                <a:solidFill>
                  <a:srgbClr val="262626"/>
                </a:solidFill>
                <a:latin typeface="Cambria" pitchFamily="34" charset="0"/>
                <a:ea typeface="Cambria" pitchFamily="34" charset="-122"/>
                <a:cs typeface="Cambria" pitchFamily="34" charset="-120"/>
              </a:rPr>
              <a:t>5. Correlation check — </a:t>
            </a:r>
            <a:r>
              <a:rPr lang="en-US" sz="2400" dirty="0">
                <a:solidFill>
                  <a:srgbClr val="262626"/>
                </a:solidFill>
                <a:latin typeface="Cambria" pitchFamily="34" charset="0"/>
                <a:ea typeface="Cambria" pitchFamily="34" charset="-122"/>
                <a:cs typeface="Cambria" pitchFamily="34" charset="-120"/>
              </a:rPr>
              <a:t>Does price actually drive rating? (0.059 → no)</a:t>
            </a:r>
          </a:p>
          <a:p>
            <a:endParaRPr lang="en-US" sz="2400" b="1" dirty="0">
              <a:solidFill>
                <a:srgbClr val="262626"/>
              </a:solidFill>
              <a:latin typeface="Cambria" pitchFamily="34" charset="0"/>
              <a:ea typeface="Cambria" pitchFamily="34" charset="-122"/>
              <a:cs typeface="Cambria" pitchFamily="34" charset="-120"/>
            </a:endParaRPr>
          </a:p>
          <a:p>
            <a:r>
              <a:rPr lang="en-US" sz="2400" b="1" dirty="0">
                <a:solidFill>
                  <a:srgbClr val="262626"/>
                </a:solidFill>
                <a:latin typeface="Cambria" pitchFamily="34" charset="0"/>
                <a:ea typeface="Cambria" pitchFamily="34" charset="-122"/>
                <a:cs typeface="Cambria" pitchFamily="34" charset="-120"/>
              </a:rPr>
              <a:t>6. Shortlist markets — </a:t>
            </a:r>
            <a:r>
              <a:rPr lang="en-US" sz="2400" dirty="0">
                <a:solidFill>
                  <a:srgbClr val="262626"/>
                </a:solidFill>
                <a:latin typeface="Cambria" pitchFamily="34" charset="0"/>
                <a:ea typeface="Cambria" pitchFamily="34" charset="-122"/>
                <a:cs typeface="Cambria" pitchFamily="34" charset="-120"/>
              </a:rPr>
              <a:t>Low competition + above-benchmark quality</a:t>
            </a:r>
          </a:p>
          <a:p>
            <a:endParaRPr lang="en-US" sz="2400" b="1" dirty="0">
              <a:solidFill>
                <a:srgbClr val="262626"/>
              </a:solidFill>
              <a:latin typeface="Cambria" pitchFamily="34" charset="0"/>
              <a:ea typeface="Cambria" pitchFamily="34" charset="-122"/>
              <a:cs typeface="Cambria" pitchFamily="34" charset="-120"/>
            </a:endParaRPr>
          </a:p>
          <a:p>
            <a:r>
              <a:rPr lang="en-US" sz="2400" b="1" dirty="0">
                <a:solidFill>
                  <a:srgbClr val="262626"/>
                </a:solidFill>
                <a:latin typeface="Cambria" pitchFamily="34" charset="0"/>
                <a:ea typeface="Cambria" pitchFamily="34" charset="-122"/>
                <a:cs typeface="Cambria" pitchFamily="34" charset="-120"/>
              </a:rPr>
              <a:t>7. Recommend &amp; conclude — </a:t>
            </a:r>
            <a:r>
              <a:rPr lang="en-US" sz="2400" dirty="0">
                <a:solidFill>
                  <a:srgbClr val="262626"/>
                </a:solidFill>
                <a:latin typeface="Cambria" pitchFamily="34" charset="0"/>
                <a:ea typeface="Cambria" pitchFamily="34" charset="-122"/>
                <a:cs typeface="Cambria" pitchFamily="34" charset="-120"/>
              </a:rPr>
              <a:t>Qatar, Turkey, New Zealand — in that order</a:t>
            </a:r>
          </a:p>
          <a:p>
            <a:pPr marL="0" indent="0">
              <a:buNone/>
            </a:pPr>
            <a:endParaRPr lang="en-US" sz="2400" dirty="0"/>
          </a:p>
        </p:txBody>
      </p:sp>
    </p:spTree>
    <p:extLst>
      <p:ext uri="{BB962C8B-B14F-4D97-AF65-F5344CB8AC3E}">
        <p14:creationId xmlns:p14="http://schemas.microsoft.com/office/powerpoint/2010/main" val="790905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103004" y="332518"/>
            <a:ext cx="12085821" cy="620640"/>
          </a:xfrm>
          <a:prstGeom prst="rect">
            <a:avLst/>
          </a:prstGeom>
          <a:noFill/>
          <a:ln/>
        </p:spPr>
        <p:txBody>
          <a:bodyPr wrap="square" lIns="0" tIns="0" rIns="0" bIns="0" rtlCol="0" anchor="ctr"/>
          <a:lstStyle/>
          <a:p>
            <a:pPr marL="0" indent="0">
              <a:buNone/>
            </a:pPr>
            <a:r>
              <a:rPr lang="en-US" sz="2800" b="1" dirty="0">
                <a:solidFill>
                  <a:srgbClr val="262626"/>
                </a:solidFill>
                <a:latin typeface="Cambria" pitchFamily="34" charset="0"/>
                <a:ea typeface="Cambria" pitchFamily="34" charset="-122"/>
              </a:rPr>
              <a:t>India Dominates, the Rest of the World Is Open</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04" y="966037"/>
            <a:ext cx="11984247" cy="543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919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304720" y="243840"/>
            <a:ext cx="11680957" cy="731520"/>
          </a:xfrm>
          <a:prstGeom prst="rect">
            <a:avLst/>
          </a:prstGeom>
          <a:noFill/>
          <a:ln/>
        </p:spPr>
        <p:txBody>
          <a:bodyPr wrap="square" lIns="0" tIns="0" rIns="0" bIns="0" rtlCol="0" anchor="ctr"/>
          <a:lstStyle/>
          <a:p>
            <a:pPr marL="0" indent="0">
              <a:buNone/>
            </a:pPr>
            <a:r>
              <a:rPr lang="en-US" sz="2800" b="1" dirty="0">
                <a:solidFill>
                  <a:srgbClr val="262626"/>
                </a:solidFill>
                <a:latin typeface="Cambria" pitchFamily="34" charset="0"/>
                <a:ea typeface="Cambria" pitchFamily="34" charset="-122"/>
                <a:cs typeface="Cambria" pitchFamily="34" charset="-120"/>
              </a:rPr>
              <a:t>9,551 restaurants, cleaned and ready for analysis</a:t>
            </a:r>
            <a:endParaRPr lang="en-US" sz="2800" dirty="0"/>
          </a:p>
        </p:txBody>
      </p:sp>
      <p:graphicFrame>
        <p:nvGraphicFramePr>
          <p:cNvPr id="5" name="Table 4"/>
          <p:cNvGraphicFramePr>
            <a:graphicFrameLocks noGrp="1"/>
          </p:cNvGraphicFramePr>
          <p:nvPr>
            <p:extLst>
              <p:ext uri="{D42A27DB-BD31-4B8C-83A1-F6EECF244321}">
                <p14:modId xmlns:p14="http://schemas.microsoft.com/office/powerpoint/2010/main" val="2926646300"/>
              </p:ext>
            </p:extLst>
          </p:nvPr>
        </p:nvGraphicFramePr>
        <p:xfrm>
          <a:off x="150814" y="975365"/>
          <a:ext cx="11834865" cy="5425431"/>
        </p:xfrm>
        <a:graphic>
          <a:graphicData uri="http://schemas.openxmlformats.org/drawingml/2006/table">
            <a:tbl>
              <a:tblPr>
                <a:tableStyleId>{5C22544A-7EE6-4342-B048-85BDC9FD1C3A}</a:tableStyleId>
              </a:tblPr>
              <a:tblGrid>
                <a:gridCol w="2645440">
                  <a:extLst>
                    <a:ext uri="{9D8B030D-6E8A-4147-A177-3AD203B41FA5}">
                      <a16:colId xmlns:a16="http://schemas.microsoft.com/office/drawing/2014/main" val="20000"/>
                    </a:ext>
                  </a:extLst>
                </a:gridCol>
                <a:gridCol w="2057565">
                  <a:extLst>
                    <a:ext uri="{9D8B030D-6E8A-4147-A177-3AD203B41FA5}">
                      <a16:colId xmlns:a16="http://schemas.microsoft.com/office/drawing/2014/main" val="20001"/>
                    </a:ext>
                  </a:extLst>
                </a:gridCol>
                <a:gridCol w="2057565">
                  <a:extLst>
                    <a:ext uri="{9D8B030D-6E8A-4147-A177-3AD203B41FA5}">
                      <a16:colId xmlns:a16="http://schemas.microsoft.com/office/drawing/2014/main" val="20002"/>
                    </a:ext>
                  </a:extLst>
                </a:gridCol>
                <a:gridCol w="3016730">
                  <a:extLst>
                    <a:ext uri="{9D8B030D-6E8A-4147-A177-3AD203B41FA5}">
                      <a16:colId xmlns:a16="http://schemas.microsoft.com/office/drawing/2014/main" val="20003"/>
                    </a:ext>
                  </a:extLst>
                </a:gridCol>
                <a:gridCol w="2057565">
                  <a:extLst>
                    <a:ext uri="{9D8B030D-6E8A-4147-A177-3AD203B41FA5}">
                      <a16:colId xmlns:a16="http://schemas.microsoft.com/office/drawing/2014/main" val="20004"/>
                    </a:ext>
                  </a:extLst>
                </a:gridCol>
              </a:tblGrid>
              <a:tr h="319143">
                <a:tc>
                  <a:txBody>
                    <a:bodyPr/>
                    <a:lstStyle/>
                    <a:p>
                      <a:pPr algn="l" fontAlgn="b"/>
                      <a:r>
                        <a:rPr lang="en-US" sz="1200" b="1" u="none" strike="noStrike" dirty="0">
                          <a:effectLst/>
                        </a:rPr>
                        <a:t>Country</a:t>
                      </a:r>
                      <a:endParaRPr lang="en-US" sz="1200" b="1" i="0" u="none" strike="noStrike" dirty="0">
                        <a:solidFill>
                          <a:srgbClr val="FFFFFF"/>
                        </a:solidFill>
                        <a:effectLst/>
                        <a:latin typeface="Arial"/>
                      </a:endParaRPr>
                    </a:p>
                  </a:txBody>
                  <a:tcPr marL="9525" marR="9525" marT="9525" marB="0" anchor="b"/>
                </a:tc>
                <a:tc>
                  <a:txBody>
                    <a:bodyPr/>
                    <a:lstStyle/>
                    <a:p>
                      <a:pPr algn="r" fontAlgn="b"/>
                      <a:r>
                        <a:rPr lang="en-US" sz="1200" b="1" u="none" strike="noStrike">
                          <a:effectLst/>
                        </a:rPr>
                        <a:t>No. Of Restaurant</a:t>
                      </a:r>
                      <a:endParaRPr lang="en-US" sz="1200" b="1" i="0" u="none" strike="noStrike">
                        <a:solidFill>
                          <a:srgbClr val="FFFFFF"/>
                        </a:solidFill>
                        <a:effectLst/>
                        <a:latin typeface="Arial"/>
                      </a:endParaRPr>
                    </a:p>
                  </a:txBody>
                  <a:tcPr marL="9525" marR="9525" marT="9525" marB="0" anchor="b"/>
                </a:tc>
                <a:tc>
                  <a:txBody>
                    <a:bodyPr/>
                    <a:lstStyle/>
                    <a:p>
                      <a:pPr algn="r" fontAlgn="b"/>
                      <a:r>
                        <a:rPr lang="en-US" sz="1200" b="1" u="none" strike="noStrike" dirty="0">
                          <a:effectLst/>
                        </a:rPr>
                        <a:t>Average of Votes</a:t>
                      </a:r>
                      <a:endParaRPr lang="en-US" sz="1200" b="1" i="0" u="none" strike="noStrike" dirty="0">
                        <a:solidFill>
                          <a:srgbClr val="FFFFFF"/>
                        </a:solidFill>
                        <a:effectLst/>
                        <a:latin typeface="Arial"/>
                      </a:endParaRPr>
                    </a:p>
                  </a:txBody>
                  <a:tcPr marL="9525" marR="9525" marT="9525" marB="0" anchor="b"/>
                </a:tc>
                <a:tc>
                  <a:txBody>
                    <a:bodyPr/>
                    <a:lstStyle/>
                    <a:p>
                      <a:pPr algn="r" fontAlgn="b"/>
                      <a:r>
                        <a:rPr lang="en-US" sz="1200" b="1" u="none" strike="noStrike">
                          <a:effectLst/>
                        </a:rPr>
                        <a:t>Average of Average_Cost_for_two</a:t>
                      </a:r>
                      <a:endParaRPr lang="en-US" sz="1200" b="1" i="0" u="none" strike="noStrike">
                        <a:solidFill>
                          <a:srgbClr val="FFFFFF"/>
                        </a:solidFill>
                        <a:effectLst/>
                        <a:latin typeface="Arial"/>
                      </a:endParaRPr>
                    </a:p>
                  </a:txBody>
                  <a:tcPr marL="9525" marR="9525" marT="9525" marB="0" anchor="b"/>
                </a:tc>
                <a:tc>
                  <a:txBody>
                    <a:bodyPr/>
                    <a:lstStyle/>
                    <a:p>
                      <a:pPr algn="r" fontAlgn="b"/>
                      <a:r>
                        <a:rPr lang="en-US" sz="1200" b="1" u="none" strike="noStrike" dirty="0">
                          <a:effectLst/>
                        </a:rPr>
                        <a:t>Average of Rating</a:t>
                      </a:r>
                      <a:endParaRPr lang="en-US" sz="1200" b="1" i="0" u="none" strike="noStrike" dirty="0">
                        <a:solidFill>
                          <a:srgbClr val="FFFFFF"/>
                        </a:solidFill>
                        <a:effectLst/>
                        <a:latin typeface="Arial"/>
                      </a:endParaRPr>
                    </a:p>
                  </a:txBody>
                  <a:tcPr marL="9525" marR="9525" marT="9525" marB="0" anchor="b"/>
                </a:tc>
                <a:extLst>
                  <a:ext uri="{0D108BD9-81ED-4DB2-BD59-A6C34878D82A}">
                    <a16:rowId xmlns:a16="http://schemas.microsoft.com/office/drawing/2014/main" val="10000"/>
                  </a:ext>
                </a:extLst>
              </a:tr>
              <a:tr h="319143">
                <a:tc>
                  <a:txBody>
                    <a:bodyPr/>
                    <a:lstStyle/>
                    <a:p>
                      <a:pPr algn="l" fontAlgn="b"/>
                      <a:r>
                        <a:rPr lang="en-US" sz="1000" u="none" strike="noStrike" dirty="0">
                          <a:effectLst/>
                        </a:rPr>
                        <a:t>Australia</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dirty="0">
                          <a:effectLst/>
                        </a:rPr>
                        <a:t>24</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dirty="0">
                          <a:effectLst/>
                        </a:rPr>
                        <a:t>111.42</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dirty="0">
                          <a:effectLst/>
                        </a:rPr>
                        <a:t>24.08</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dirty="0">
                          <a:effectLst/>
                        </a:rPr>
                        <a:t>3.66</a:t>
                      </a:r>
                      <a:endParaRPr lang="en-US" sz="1000" b="0" i="0" u="none" strike="noStrike" dirty="0">
                        <a:solidFill>
                          <a:srgbClr val="000000"/>
                        </a:solidFill>
                        <a:effectLst/>
                        <a:latin typeface="Arial"/>
                      </a:endParaRPr>
                    </a:p>
                  </a:txBody>
                  <a:tcPr marL="9525" marR="9525" marT="9525" marB="0" anchor="b"/>
                </a:tc>
                <a:extLst>
                  <a:ext uri="{0D108BD9-81ED-4DB2-BD59-A6C34878D82A}">
                    <a16:rowId xmlns:a16="http://schemas.microsoft.com/office/drawing/2014/main" val="10001"/>
                  </a:ext>
                </a:extLst>
              </a:tr>
              <a:tr h="319143">
                <a:tc>
                  <a:txBody>
                    <a:bodyPr/>
                    <a:lstStyle/>
                    <a:p>
                      <a:pPr algn="l" fontAlgn="b"/>
                      <a:r>
                        <a:rPr lang="en-US" sz="1000" u="none" strike="noStrike">
                          <a:effectLst/>
                        </a:rPr>
                        <a:t>Brazil</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60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dirty="0">
                          <a:effectLst/>
                        </a:rPr>
                        <a:t>19.62</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a:effectLst/>
                        </a:rPr>
                        <a:t>134.67</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3.85</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2"/>
                  </a:ext>
                </a:extLst>
              </a:tr>
              <a:tr h="319143">
                <a:tc>
                  <a:txBody>
                    <a:bodyPr/>
                    <a:lstStyle/>
                    <a:p>
                      <a:pPr algn="l" fontAlgn="b"/>
                      <a:r>
                        <a:rPr lang="en-US" sz="1000" u="none" strike="noStrike">
                          <a:effectLst/>
                        </a:rPr>
                        <a:t>Canada</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103.00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36.25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3.58</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3"/>
                  </a:ext>
                </a:extLst>
              </a:tr>
              <a:tr h="319143">
                <a:tc>
                  <a:txBody>
                    <a:bodyPr/>
                    <a:lstStyle/>
                    <a:p>
                      <a:pPr algn="l" fontAlgn="b"/>
                      <a:r>
                        <a:rPr lang="en-US" sz="1000" u="none" strike="noStrike" dirty="0">
                          <a:effectLst/>
                        </a:rPr>
                        <a:t>India</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a:effectLst/>
                        </a:rPr>
                        <a:t>8652</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137.21</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623.37</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2.77</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4"/>
                  </a:ext>
                </a:extLst>
              </a:tr>
              <a:tr h="319143">
                <a:tc>
                  <a:txBody>
                    <a:bodyPr/>
                    <a:lstStyle/>
                    <a:p>
                      <a:pPr algn="l" fontAlgn="b"/>
                      <a:r>
                        <a:rPr lang="en-US" sz="1000" u="none" strike="noStrike">
                          <a:effectLst/>
                        </a:rPr>
                        <a:t>Indonesia</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21</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772.10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281190.48</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dirty="0">
                          <a:effectLst/>
                        </a:rPr>
                        <a:t>4.30</a:t>
                      </a:r>
                      <a:endParaRPr lang="en-US" sz="1000" b="0" i="0" u="none" strike="noStrike" dirty="0">
                        <a:solidFill>
                          <a:srgbClr val="000000"/>
                        </a:solidFill>
                        <a:effectLst/>
                        <a:latin typeface="Arial"/>
                      </a:endParaRPr>
                    </a:p>
                  </a:txBody>
                  <a:tcPr marL="9525" marR="9525" marT="9525" marB="0" anchor="b"/>
                </a:tc>
                <a:extLst>
                  <a:ext uri="{0D108BD9-81ED-4DB2-BD59-A6C34878D82A}">
                    <a16:rowId xmlns:a16="http://schemas.microsoft.com/office/drawing/2014/main" val="10005"/>
                  </a:ext>
                </a:extLst>
              </a:tr>
              <a:tr h="319143">
                <a:tc>
                  <a:txBody>
                    <a:bodyPr/>
                    <a:lstStyle/>
                    <a:p>
                      <a:pPr algn="l" fontAlgn="b"/>
                      <a:r>
                        <a:rPr lang="en-US" sz="1000" u="none" strike="noStrike">
                          <a:effectLst/>
                        </a:rPr>
                        <a:t>New Zealand</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243.03</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69.75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4.26</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6"/>
                  </a:ext>
                </a:extLst>
              </a:tr>
              <a:tr h="319143">
                <a:tc>
                  <a:txBody>
                    <a:bodyPr/>
                    <a:lstStyle/>
                    <a:p>
                      <a:pPr algn="l" fontAlgn="b"/>
                      <a:r>
                        <a:rPr lang="en-US" sz="1000" u="none" strike="noStrike">
                          <a:effectLst/>
                        </a:rPr>
                        <a:t>Philippines</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22</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407.41</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1606.82</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4.47</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7"/>
                  </a:ext>
                </a:extLst>
              </a:tr>
              <a:tr h="319143">
                <a:tc>
                  <a:txBody>
                    <a:bodyPr/>
                    <a:lstStyle/>
                    <a:p>
                      <a:pPr algn="l" fontAlgn="b"/>
                      <a:r>
                        <a:rPr lang="en-US" sz="1000" u="none" strike="noStrike">
                          <a:effectLst/>
                        </a:rPr>
                        <a:t>Qatar</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163.80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223.75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4.06</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8"/>
                  </a:ext>
                </a:extLst>
              </a:tr>
              <a:tr h="319143">
                <a:tc>
                  <a:txBody>
                    <a:bodyPr/>
                    <a:lstStyle/>
                    <a:p>
                      <a:pPr algn="l" fontAlgn="b"/>
                      <a:r>
                        <a:rPr lang="en-US" sz="1000" u="none" strike="noStrike">
                          <a:effectLst/>
                        </a:rPr>
                        <a:t>Singapore</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31.90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155.75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3.58</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09"/>
                  </a:ext>
                </a:extLst>
              </a:tr>
              <a:tr h="319143">
                <a:tc>
                  <a:txBody>
                    <a:bodyPr/>
                    <a:lstStyle/>
                    <a:p>
                      <a:pPr algn="l" fontAlgn="b"/>
                      <a:r>
                        <a:rPr lang="en-US" sz="1000" u="none" strike="noStrike">
                          <a:effectLst/>
                        </a:rPr>
                        <a:t>South Africa</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60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315.17</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419.73</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4.21</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10"/>
                  </a:ext>
                </a:extLst>
              </a:tr>
              <a:tr h="319143">
                <a:tc>
                  <a:txBody>
                    <a:bodyPr/>
                    <a:lstStyle/>
                    <a:p>
                      <a:pPr algn="l" fontAlgn="b"/>
                      <a:r>
                        <a:rPr lang="en-US" sz="1000" u="none" strike="noStrike">
                          <a:effectLst/>
                        </a:rPr>
                        <a:t>Sri Lanka</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146.45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2375.00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3.87</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11"/>
                  </a:ext>
                </a:extLst>
              </a:tr>
              <a:tr h="319143">
                <a:tc>
                  <a:txBody>
                    <a:bodyPr/>
                    <a:lstStyle/>
                    <a:p>
                      <a:pPr algn="l" fontAlgn="b"/>
                      <a:r>
                        <a:rPr lang="en-US" sz="1000" u="none" strike="noStrike">
                          <a:effectLst/>
                        </a:rPr>
                        <a:t>Turkey</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34</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431.47</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84.85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4.30</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12"/>
                  </a:ext>
                </a:extLst>
              </a:tr>
              <a:tr h="319143">
                <a:tc>
                  <a:txBody>
                    <a:bodyPr/>
                    <a:lstStyle/>
                    <a:p>
                      <a:pPr algn="l" fontAlgn="b"/>
                      <a:r>
                        <a:rPr lang="en-US" sz="1000" u="none" strike="noStrike">
                          <a:effectLst/>
                        </a:rPr>
                        <a:t>United Arab Emirates</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60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493.52</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166.42</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4.23</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13"/>
                  </a:ext>
                </a:extLst>
              </a:tr>
              <a:tr h="319143">
                <a:tc>
                  <a:txBody>
                    <a:bodyPr/>
                    <a:lstStyle/>
                    <a:p>
                      <a:pPr algn="l" fontAlgn="b"/>
                      <a:r>
                        <a:rPr lang="en-US" sz="1000" u="none" strike="noStrike">
                          <a:effectLst/>
                        </a:rPr>
                        <a:t>United Kingdom</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80</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205.49</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47.81</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4.10</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14"/>
                  </a:ext>
                </a:extLst>
              </a:tr>
              <a:tr h="319143">
                <a:tc>
                  <a:txBody>
                    <a:bodyPr/>
                    <a:lstStyle/>
                    <a:p>
                      <a:pPr algn="l" fontAlgn="b"/>
                      <a:r>
                        <a:rPr lang="en-US" sz="1000" u="none" strike="noStrike" dirty="0">
                          <a:effectLst/>
                        </a:rPr>
                        <a:t>United States of America</a:t>
                      </a:r>
                      <a:endParaRPr lang="en-US" sz="1000" b="0" i="0" u="none" strike="noStrike" dirty="0">
                        <a:solidFill>
                          <a:srgbClr val="000000"/>
                        </a:solidFill>
                        <a:effectLst/>
                        <a:latin typeface="Arial"/>
                      </a:endParaRPr>
                    </a:p>
                  </a:txBody>
                  <a:tcPr marL="9525" marR="9525" marT="9525" marB="0" anchor="b"/>
                </a:tc>
                <a:tc>
                  <a:txBody>
                    <a:bodyPr/>
                    <a:lstStyle/>
                    <a:p>
                      <a:pPr algn="r" fontAlgn="b"/>
                      <a:r>
                        <a:rPr lang="en-US" sz="1000" u="none" strike="noStrike">
                          <a:effectLst/>
                        </a:rPr>
                        <a:t>434</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428.22</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26.15</a:t>
                      </a:r>
                      <a:endParaRPr lang="en-US" sz="1000" b="0" i="0" u="none" strike="noStrike">
                        <a:solidFill>
                          <a:srgbClr val="000000"/>
                        </a:solidFill>
                        <a:effectLst/>
                        <a:latin typeface="Arial"/>
                      </a:endParaRPr>
                    </a:p>
                  </a:txBody>
                  <a:tcPr marL="9525" marR="9525" marT="9525" marB="0" anchor="b"/>
                </a:tc>
                <a:tc>
                  <a:txBody>
                    <a:bodyPr/>
                    <a:lstStyle/>
                    <a:p>
                      <a:pPr algn="r" fontAlgn="b"/>
                      <a:r>
                        <a:rPr lang="en-US" sz="1000" u="none" strike="noStrike">
                          <a:effectLst/>
                        </a:rPr>
                        <a:t>4.01</a:t>
                      </a:r>
                      <a:endParaRPr lang="en-US" sz="1000" b="0" i="0" u="none" strike="noStrike">
                        <a:solidFill>
                          <a:srgbClr val="000000"/>
                        </a:solidFill>
                        <a:effectLst/>
                        <a:latin typeface="Arial"/>
                      </a:endParaRPr>
                    </a:p>
                  </a:txBody>
                  <a:tcPr marL="9525" marR="9525" marT="9525" marB="0" anchor="b"/>
                </a:tc>
                <a:extLst>
                  <a:ext uri="{0D108BD9-81ED-4DB2-BD59-A6C34878D82A}">
                    <a16:rowId xmlns:a16="http://schemas.microsoft.com/office/drawing/2014/main" val="10015"/>
                  </a:ext>
                </a:extLst>
              </a:tr>
              <a:tr h="319143">
                <a:tc>
                  <a:txBody>
                    <a:bodyPr/>
                    <a:lstStyle/>
                    <a:p>
                      <a:pPr algn="l" fontAlgn="b"/>
                      <a:r>
                        <a:rPr lang="en-US" sz="1200" b="1" u="none" strike="noStrike" dirty="0">
                          <a:effectLst/>
                        </a:rPr>
                        <a:t>Grand Total</a:t>
                      </a:r>
                      <a:endParaRPr lang="en-US" sz="1100" b="1" i="0" u="none" strike="noStrike" dirty="0">
                        <a:solidFill>
                          <a:srgbClr val="000000"/>
                        </a:solidFill>
                        <a:effectLst/>
                        <a:latin typeface="Arial"/>
                      </a:endParaRPr>
                    </a:p>
                  </a:txBody>
                  <a:tcPr marL="9525" marR="9525" marT="9525" marB="0" anchor="b"/>
                </a:tc>
                <a:tc>
                  <a:txBody>
                    <a:bodyPr/>
                    <a:lstStyle/>
                    <a:p>
                      <a:pPr algn="r" fontAlgn="b"/>
                      <a:r>
                        <a:rPr lang="en-US" sz="1200" b="1" u="none" strike="noStrike" dirty="0">
                          <a:effectLst/>
                        </a:rPr>
                        <a:t>9551</a:t>
                      </a:r>
                      <a:endParaRPr lang="en-US" sz="1200" b="1" i="0" u="none" strike="noStrike" dirty="0">
                        <a:solidFill>
                          <a:srgbClr val="000000"/>
                        </a:solidFill>
                        <a:effectLst/>
                        <a:latin typeface="Arial"/>
                      </a:endParaRPr>
                    </a:p>
                  </a:txBody>
                  <a:tcPr marL="9525" marR="9525" marT="9525" marB="0" anchor="b"/>
                </a:tc>
                <a:tc>
                  <a:txBody>
                    <a:bodyPr/>
                    <a:lstStyle/>
                    <a:p>
                      <a:pPr algn="r" fontAlgn="b"/>
                      <a:r>
                        <a:rPr lang="en-US" sz="1200" b="1" u="none" strike="noStrike" dirty="0">
                          <a:effectLst/>
                        </a:rPr>
                        <a:t>156.91</a:t>
                      </a:r>
                      <a:endParaRPr lang="en-US" sz="1200" b="1" i="0" u="none" strike="noStrike" dirty="0">
                        <a:solidFill>
                          <a:srgbClr val="000000"/>
                        </a:solidFill>
                        <a:effectLst/>
                        <a:latin typeface="Arial"/>
                      </a:endParaRPr>
                    </a:p>
                  </a:txBody>
                  <a:tcPr marL="9525" marR="9525" marT="9525" marB="0" anchor="b"/>
                </a:tc>
                <a:tc>
                  <a:txBody>
                    <a:bodyPr/>
                    <a:lstStyle/>
                    <a:p>
                      <a:pPr algn="r" fontAlgn="b"/>
                      <a:r>
                        <a:rPr lang="en-US" sz="1200" b="1" u="none" strike="noStrike" dirty="0">
                          <a:effectLst/>
                        </a:rPr>
                        <a:t>1199.21</a:t>
                      </a:r>
                      <a:endParaRPr lang="en-US" sz="1200" b="1" i="0" u="none" strike="noStrike" dirty="0">
                        <a:solidFill>
                          <a:srgbClr val="000000"/>
                        </a:solidFill>
                        <a:effectLst/>
                        <a:latin typeface="Arial"/>
                      </a:endParaRPr>
                    </a:p>
                  </a:txBody>
                  <a:tcPr marL="9525" marR="9525" marT="9525" marB="0" anchor="b"/>
                </a:tc>
                <a:tc>
                  <a:txBody>
                    <a:bodyPr/>
                    <a:lstStyle/>
                    <a:p>
                      <a:pPr algn="r" fontAlgn="b"/>
                      <a:r>
                        <a:rPr lang="en-US" sz="1200" b="1" u="none" strike="noStrike" dirty="0">
                          <a:effectLst/>
                        </a:rPr>
                        <a:t>2.89</a:t>
                      </a:r>
                      <a:endParaRPr lang="en-US" sz="1200" b="1" i="0" u="none" strike="noStrike" dirty="0">
                        <a:solidFill>
                          <a:srgbClr val="000000"/>
                        </a:solidFill>
                        <a:effectLst/>
                        <a:latin typeface="Arial"/>
                      </a:endParaRPr>
                    </a:p>
                  </a:txBody>
                  <a:tcPr marL="9525" marR="9525" marT="9525" marB="0" anchor="b"/>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661282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500715" y="411480"/>
            <a:ext cx="11579384"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Outside India, the USA is Crowded and Many Markets Are Open.</a:t>
            </a:r>
            <a:endParaRPr lang="en-US" sz="2600" dirty="0"/>
          </a:p>
        </p:txBody>
      </p:sp>
      <p:sp>
        <p:nvSpPr>
          <p:cNvPr id="3" name="Text 2"/>
          <p:cNvSpPr txBox="1"/>
          <p:nvPr/>
        </p:nvSpPr>
        <p:spPr>
          <a:xfrm>
            <a:off x="731330" y="1325880"/>
            <a:ext cx="9751060" cy="320040"/>
          </a:xfrm>
          <a:prstGeom prst="rect">
            <a:avLst/>
          </a:prstGeom>
          <a:noFill/>
          <a:ln/>
        </p:spPr>
        <p:txBody>
          <a:bodyPr wrap="square" lIns="0" tIns="0" rIns="0" bIns="0" rtlCol="0" anchor="ctr"/>
          <a:lstStyle/>
          <a:p>
            <a:pPr marL="0" indent="0">
              <a:buNone/>
            </a:pPr>
            <a:r>
              <a:rPr lang="en-US" sz="1250" i="1" dirty="0">
                <a:solidFill>
                  <a:srgbClr val="6B6B6B"/>
                </a:solidFill>
                <a:latin typeface="Calibri" pitchFamily="34" charset="0"/>
                <a:ea typeface="Calibri" pitchFamily="34" charset="-122"/>
                <a:cs typeface="Calibri" pitchFamily="34" charset="-120"/>
              </a:rPr>
              <a:t>Restaurant count by country — India (8,652) excluded for scale</a:t>
            </a:r>
            <a:endParaRPr lang="en-US" sz="1250" dirty="0"/>
          </a:p>
        </p:txBody>
      </p:sp>
      <p:graphicFrame>
        <p:nvGraphicFramePr>
          <p:cNvPr id="4" name="Chart 0"/>
          <p:cNvGraphicFramePr/>
          <p:nvPr/>
        </p:nvGraphicFramePr>
        <p:xfrm>
          <a:off x="731329" y="1783080"/>
          <a:ext cx="10238613" cy="46177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7726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507868" y="411480"/>
            <a:ext cx="11254348"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Restaurant openings have stayed steady, 2010–2018</a:t>
            </a:r>
            <a:endParaRPr lang="en-US" sz="2600" dirty="0"/>
          </a:p>
        </p:txBody>
      </p:sp>
      <p:graphicFrame>
        <p:nvGraphicFramePr>
          <p:cNvPr id="3" name="Chart 0"/>
          <p:cNvGraphicFramePr/>
          <p:nvPr/>
        </p:nvGraphicFramePr>
        <p:xfrm>
          <a:off x="731329" y="1600200"/>
          <a:ext cx="9994837" cy="44805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9788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507868" y="457200"/>
            <a:ext cx="11477810" cy="731520"/>
          </a:xfrm>
          <a:prstGeom prst="rect">
            <a:avLst/>
          </a:prstGeom>
          <a:noFill/>
          <a:ln/>
        </p:spPr>
        <p:txBody>
          <a:bodyPr wrap="square" lIns="0" tIns="0" rIns="0" bIns="0" rtlCol="0" anchor="ctr"/>
          <a:lstStyle/>
          <a:p>
            <a:pPr marL="0" indent="0">
              <a:buNone/>
            </a:pPr>
            <a:r>
              <a:rPr lang="en-US" sz="2700" b="1" dirty="0">
                <a:solidFill>
                  <a:srgbClr val="262626"/>
                </a:solidFill>
                <a:latin typeface="Cambria" pitchFamily="34" charset="0"/>
                <a:ea typeface="Cambria" pitchFamily="34" charset="-122"/>
              </a:rPr>
              <a:t>Shortlisted countries compared: volume , rating and cost.</a:t>
            </a:r>
            <a:endParaRPr lang="en-US" sz="2700" dirty="0"/>
          </a:p>
        </p:txBody>
      </p:sp>
      <p:sp>
        <p:nvSpPr>
          <p:cNvPr id="3" name="Text 2"/>
          <p:cNvSpPr txBox="1"/>
          <p:nvPr/>
        </p:nvSpPr>
        <p:spPr>
          <a:xfrm>
            <a:off x="507868" y="1257300"/>
            <a:ext cx="14017149" cy="32004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No State/Province field exists in the data, so cities are used as the location-level recommendation.</a:t>
            </a:r>
            <a:endParaRPr lang="en-US" sz="1200" dirty="0"/>
          </a:p>
        </p:txBody>
      </p:sp>
      <p:graphicFrame>
        <p:nvGraphicFramePr>
          <p:cNvPr id="4" name="Chart 3"/>
          <p:cNvGraphicFramePr/>
          <p:nvPr>
            <p:extLst>
              <p:ext uri="{D42A27DB-BD31-4B8C-83A1-F6EECF244321}">
                <p14:modId xmlns:p14="http://schemas.microsoft.com/office/powerpoint/2010/main" val="4228529756"/>
              </p:ext>
            </p:extLst>
          </p:nvPr>
        </p:nvGraphicFramePr>
        <p:xfrm>
          <a:off x="1522412" y="1905000"/>
          <a:ext cx="9601200" cy="4343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7722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731330" y="777240"/>
            <a:ext cx="11254348"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All three markets already clear a high quality bar.</a:t>
            </a:r>
            <a:endParaRPr lang="en-US" sz="2600" dirty="0"/>
          </a:p>
        </p:txBody>
      </p:sp>
      <p:graphicFrame>
        <p:nvGraphicFramePr>
          <p:cNvPr id="3" name="Chart 0"/>
          <p:cNvGraphicFramePr/>
          <p:nvPr>
            <p:extLst>
              <p:ext uri="{D42A27DB-BD31-4B8C-83A1-F6EECF244321}">
                <p14:modId xmlns:p14="http://schemas.microsoft.com/office/powerpoint/2010/main" val="1415267879"/>
              </p:ext>
            </p:extLst>
          </p:nvPr>
        </p:nvGraphicFramePr>
        <p:xfrm>
          <a:off x="731330" y="1600200"/>
          <a:ext cx="11254348" cy="44805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47032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304721" y="481885"/>
            <a:ext cx="11884104" cy="731520"/>
          </a:xfrm>
          <a:prstGeom prst="rect">
            <a:avLst/>
          </a:prstGeom>
          <a:noFill/>
          <a:ln/>
        </p:spPr>
        <p:txBody>
          <a:bodyPr wrap="square" lIns="0" tIns="0" rIns="0" bIns="0" rtlCol="0" anchor="ctr"/>
          <a:lstStyle/>
          <a:p>
            <a:pPr marL="0" indent="0">
              <a:buNone/>
            </a:pPr>
            <a:r>
              <a:rPr lang="en-US" sz="2700" b="1" dirty="0">
                <a:solidFill>
                  <a:srgbClr val="262626"/>
                </a:solidFill>
                <a:latin typeface="Cambria" pitchFamily="34" charset="0"/>
                <a:ea typeface="Cambria" pitchFamily="34" charset="-122"/>
                <a:cs typeface="Cambria" pitchFamily="34" charset="-120"/>
              </a:rPr>
              <a:t>Price locally, not against Indian benchmarks</a:t>
            </a:r>
            <a:endParaRPr lang="en-US" sz="2700" dirty="0"/>
          </a:p>
        </p:txBody>
      </p:sp>
      <p:sp>
        <p:nvSpPr>
          <p:cNvPr id="3" name="Text 2"/>
          <p:cNvSpPr txBox="1"/>
          <p:nvPr/>
        </p:nvSpPr>
        <p:spPr>
          <a:xfrm>
            <a:off x="298998" y="1257300"/>
            <a:ext cx="11585107" cy="32004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Average cost for two, in each market's own currency — costs are not FX-comparable across countries.</a:t>
            </a:r>
            <a:endParaRPr lang="en-US" sz="1200" dirty="0"/>
          </a:p>
        </p:txBody>
      </p:sp>
      <p:graphicFrame>
        <p:nvGraphicFramePr>
          <p:cNvPr id="4" name="Chart 3"/>
          <p:cNvGraphicFramePr>
            <a:graphicFrameLocks/>
          </p:cNvGraphicFramePr>
          <p:nvPr>
            <p:extLst>
              <p:ext uri="{D42A27DB-BD31-4B8C-83A1-F6EECF244321}">
                <p14:modId xmlns:p14="http://schemas.microsoft.com/office/powerpoint/2010/main" val="2324266193"/>
              </p:ext>
            </p:extLst>
          </p:nvPr>
        </p:nvGraphicFramePr>
        <p:xfrm>
          <a:off x="912812" y="2057400"/>
          <a:ext cx="10287000" cy="4191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75139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203147" y="304800"/>
            <a:ext cx="11884104" cy="731520"/>
          </a:xfrm>
          <a:prstGeom prst="rect">
            <a:avLst/>
          </a:prstGeom>
          <a:noFill/>
          <a:ln/>
        </p:spPr>
        <p:txBody>
          <a:bodyPr wrap="square" lIns="0" tIns="0" rIns="0" bIns="0" rtlCol="0" anchor="ctr"/>
          <a:lstStyle/>
          <a:p>
            <a:pPr marL="0" indent="0">
              <a:buNone/>
            </a:pPr>
            <a:r>
              <a:rPr lang="en-US" sz="2700" b="1" dirty="0">
                <a:solidFill>
                  <a:srgbClr val="262626"/>
                </a:solidFill>
                <a:latin typeface="Cambria" pitchFamily="34" charset="0"/>
                <a:ea typeface="Cambria" pitchFamily="34" charset="-122"/>
                <a:cs typeface="Cambria" pitchFamily="34" charset="-120"/>
              </a:rPr>
              <a:t>Know the benchmark — and the gap to close</a:t>
            </a:r>
            <a:endParaRPr lang="en-US" sz="2700" dirty="0"/>
          </a:p>
        </p:txBody>
      </p:sp>
      <p:sp>
        <p:nvSpPr>
          <p:cNvPr id="3" name="Text 2"/>
          <p:cNvSpPr txBox="1"/>
          <p:nvPr/>
        </p:nvSpPr>
        <p:spPr>
          <a:xfrm>
            <a:off x="234620" y="1045013"/>
            <a:ext cx="8288401" cy="320040"/>
          </a:xfrm>
          <a:prstGeom prst="rect">
            <a:avLst/>
          </a:prstGeom>
          <a:noFill/>
          <a:ln/>
        </p:spPr>
        <p:txBody>
          <a:bodyPr wrap="square" lIns="0" tIns="0" rIns="0" bIns="0" rtlCol="0" anchor="ctr"/>
          <a:lstStyle/>
          <a:p>
            <a:pPr marL="0" indent="0">
              <a:buNone/>
            </a:pPr>
            <a:r>
              <a:rPr lang="en-US" sz="1300" b="1" dirty="0">
                <a:solidFill>
                  <a:srgbClr val="262626"/>
                </a:solidFill>
                <a:latin typeface="Calibri" pitchFamily="34" charset="0"/>
                <a:ea typeface="Calibri" pitchFamily="34" charset="-122"/>
                <a:cs typeface="Calibri" pitchFamily="34" charset="-120"/>
              </a:rPr>
              <a:t>Leading competitors by engagement (votes)</a:t>
            </a:r>
            <a:endParaRPr lang="en-US" sz="1300" dirty="0"/>
          </a:p>
        </p:txBody>
      </p:sp>
      <p:graphicFrame>
        <p:nvGraphicFramePr>
          <p:cNvPr id="4" name="Chart 3"/>
          <p:cNvGraphicFramePr>
            <a:graphicFrameLocks/>
          </p:cNvGraphicFramePr>
          <p:nvPr>
            <p:extLst>
              <p:ext uri="{D42A27DB-BD31-4B8C-83A1-F6EECF244321}">
                <p14:modId xmlns:p14="http://schemas.microsoft.com/office/powerpoint/2010/main" val="1049287999"/>
              </p:ext>
            </p:extLst>
          </p:nvPr>
        </p:nvGraphicFramePr>
        <p:xfrm>
          <a:off x="608012" y="1600200"/>
          <a:ext cx="10744200" cy="4648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15633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679828" y="481025"/>
            <a:ext cx="11355922" cy="731520"/>
          </a:xfrm>
          <a:prstGeom prst="rect">
            <a:avLst/>
          </a:prstGeom>
          <a:noFill/>
          <a:ln/>
        </p:spPr>
        <p:txBody>
          <a:bodyPr wrap="square" lIns="0" tIns="0" rIns="0" bIns="0" rtlCol="0" anchor="ctr"/>
          <a:lstStyle/>
          <a:p>
            <a:pPr marL="0" indent="0">
              <a:buNone/>
            </a:pPr>
            <a:r>
              <a:rPr lang="en-US" sz="2700" b="1" dirty="0">
                <a:solidFill>
                  <a:srgbClr val="262626"/>
                </a:solidFill>
                <a:latin typeface="Cambria" pitchFamily="34" charset="0"/>
                <a:ea typeface="Cambria" pitchFamily="34" charset="-122"/>
                <a:cs typeface="Cambria" pitchFamily="34" charset="-120"/>
              </a:rPr>
              <a:t>Which cuisines earn the best ratings?</a:t>
            </a:r>
            <a:endParaRPr lang="en-US" sz="2700" dirty="0"/>
          </a:p>
        </p:txBody>
      </p:sp>
      <p:sp>
        <p:nvSpPr>
          <p:cNvPr id="3" name="Text 2"/>
          <p:cNvSpPr txBox="1"/>
          <p:nvPr/>
        </p:nvSpPr>
        <p:spPr>
          <a:xfrm>
            <a:off x="679828" y="1212545"/>
            <a:ext cx="10969943" cy="32004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Average rating by cuisine — categories with 20+ restaurant observations only</a:t>
            </a:r>
            <a:endParaRPr lang="en-US" sz="1200" dirty="0"/>
          </a:p>
        </p:txBody>
      </p:sp>
      <p:graphicFrame>
        <p:nvGraphicFramePr>
          <p:cNvPr id="4" name="Chart 0"/>
          <p:cNvGraphicFramePr/>
          <p:nvPr/>
        </p:nvGraphicFramePr>
        <p:xfrm>
          <a:off x="731330" y="1828800"/>
          <a:ext cx="9872948" cy="457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12117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p:cNvSpPr txBox="1"/>
          <p:nvPr/>
        </p:nvSpPr>
        <p:spPr>
          <a:xfrm>
            <a:off x="406294" y="457200"/>
            <a:ext cx="11254348" cy="731520"/>
          </a:xfrm>
          <a:prstGeom prst="rect">
            <a:avLst/>
          </a:prstGeom>
          <a:noFill/>
          <a:ln/>
        </p:spPr>
        <p:txBody>
          <a:bodyPr wrap="square" lIns="0" tIns="0" rIns="0" bIns="0"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Delivery and table booking both track with higher ratings</a:t>
            </a:r>
            <a:endParaRPr lang="en-US" sz="2500" dirty="0"/>
          </a:p>
        </p:txBody>
      </p:sp>
      <p:graphicFrame>
        <p:nvGraphicFramePr>
          <p:cNvPr id="3" name="Chart 2"/>
          <p:cNvGraphicFramePr>
            <a:graphicFrameLocks/>
          </p:cNvGraphicFramePr>
          <p:nvPr>
            <p:extLst>
              <p:ext uri="{D42A27DB-BD31-4B8C-83A1-F6EECF244321}">
                <p14:modId xmlns:p14="http://schemas.microsoft.com/office/powerpoint/2010/main" val="3428504015"/>
              </p:ext>
            </p:extLst>
          </p:nvPr>
        </p:nvGraphicFramePr>
        <p:xfrm>
          <a:off x="1405618" y="1900464"/>
          <a:ext cx="4653641" cy="411933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p:cNvGraphicFramePr>
          <p:nvPr>
            <p:extLst>
              <p:ext uri="{D42A27DB-BD31-4B8C-83A1-F6EECF244321}">
                <p14:modId xmlns:p14="http://schemas.microsoft.com/office/powerpoint/2010/main" val="3455966752"/>
              </p:ext>
            </p:extLst>
          </p:nvPr>
        </p:nvGraphicFramePr>
        <p:xfrm>
          <a:off x="6095546" y="1941285"/>
          <a:ext cx="4687661" cy="410698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89305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1"/>
          <p:cNvSpPr txBox="1"/>
          <p:nvPr/>
        </p:nvSpPr>
        <p:spPr>
          <a:xfrm>
            <a:off x="617453" y="378639"/>
            <a:ext cx="11254348" cy="731520"/>
          </a:xfrm>
          <a:prstGeom prst="rect">
            <a:avLst/>
          </a:prstGeom>
          <a:noFill/>
          <a:ln/>
        </p:spPr>
        <p:txBody>
          <a:bodyPr wrap="square" lIns="0" tIns="0" rIns="0" bIns="0" rtlCol="0" anchor="ctr"/>
          <a:lstStyle/>
          <a:p>
            <a:pPr marL="0" indent="0">
              <a:buNone/>
            </a:pPr>
            <a:r>
              <a:rPr lang="en-US" sz="2800" b="1" dirty="0">
                <a:solidFill>
                  <a:srgbClr val="262626"/>
                </a:solidFill>
                <a:latin typeface="Cambria" pitchFamily="34" charset="0"/>
                <a:ea typeface="Cambria" pitchFamily="34" charset="-122"/>
                <a:cs typeface="Cambria" pitchFamily="34" charset="-120"/>
              </a:rPr>
              <a:t>Pricing isn't the lever — quality is</a:t>
            </a:r>
            <a:endParaRPr lang="en-US" sz="2800" dirty="0"/>
          </a:p>
        </p:txBody>
      </p:sp>
      <p:sp>
        <p:nvSpPr>
          <p:cNvPr id="16" name="Shape 2"/>
          <p:cNvSpPr/>
          <p:nvPr/>
        </p:nvSpPr>
        <p:spPr>
          <a:xfrm>
            <a:off x="1096994" y="1752600"/>
            <a:ext cx="4387977" cy="3642360"/>
          </a:xfrm>
          <a:prstGeom prst="ellipse">
            <a:avLst/>
          </a:prstGeom>
          <a:solidFill>
            <a:srgbClr val="1B1B1F"/>
          </a:solidFill>
          <a:ln/>
        </p:spPr>
      </p:sp>
      <p:sp>
        <p:nvSpPr>
          <p:cNvPr id="17" name="Text 3"/>
          <p:cNvSpPr txBox="1"/>
          <p:nvPr/>
        </p:nvSpPr>
        <p:spPr>
          <a:xfrm>
            <a:off x="1096994" y="3063240"/>
            <a:ext cx="4387977" cy="822960"/>
          </a:xfrm>
          <a:prstGeom prst="rect">
            <a:avLst/>
          </a:prstGeom>
          <a:noFill/>
          <a:ln/>
        </p:spPr>
        <p:txBody>
          <a:bodyPr wrap="square" lIns="0" tIns="0" rIns="0" bIns="0" rtlCol="0" anchor="ctr"/>
          <a:lstStyle/>
          <a:p>
            <a:pPr marL="0" indent="0" algn="ctr">
              <a:buNone/>
            </a:pPr>
            <a:r>
              <a:rPr lang="en-US" sz="4400" b="1" dirty="0">
                <a:solidFill>
                  <a:srgbClr val="F4B942"/>
                </a:solidFill>
                <a:latin typeface="Cambria" pitchFamily="34" charset="0"/>
                <a:ea typeface="Cambria" pitchFamily="34" charset="-122"/>
                <a:cs typeface="Cambria" pitchFamily="34" charset="-120"/>
              </a:rPr>
              <a:t>0.059</a:t>
            </a:r>
            <a:endParaRPr lang="en-US" sz="4400" dirty="0"/>
          </a:p>
        </p:txBody>
      </p:sp>
      <p:sp>
        <p:nvSpPr>
          <p:cNvPr id="18" name="Text 4"/>
          <p:cNvSpPr txBox="1"/>
          <p:nvPr/>
        </p:nvSpPr>
        <p:spPr>
          <a:xfrm>
            <a:off x="1096994" y="3886200"/>
            <a:ext cx="4387977" cy="822960"/>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Calibri" pitchFamily="34" charset="0"/>
                <a:ea typeface="Calibri" pitchFamily="34" charset="-122"/>
                <a:cs typeface="Calibri" pitchFamily="34" charset="-120"/>
              </a:rPr>
              <a:t>correlation between cost</a:t>
            </a:r>
            <a:endParaRPr lang="en-US" sz="1250" dirty="0"/>
          </a:p>
          <a:p>
            <a:pPr marL="0" indent="0" algn="ctr">
              <a:lnSpc>
                <a:spcPct val="120000"/>
              </a:lnSpc>
              <a:buNone/>
            </a:pPr>
            <a:r>
              <a:rPr lang="en-US" sz="1250" dirty="0">
                <a:solidFill>
                  <a:srgbClr val="FFFFFF"/>
                </a:solidFill>
                <a:latin typeface="Calibri" pitchFamily="34" charset="0"/>
                <a:ea typeface="Calibri" pitchFamily="34" charset="-122"/>
                <a:cs typeface="Calibri" pitchFamily="34" charset="-120"/>
              </a:rPr>
              <a:t>and rating</a:t>
            </a:r>
            <a:endParaRPr lang="en-US" sz="1250" dirty="0"/>
          </a:p>
        </p:txBody>
      </p:sp>
      <p:sp>
        <p:nvSpPr>
          <p:cNvPr id="19" name="Text 5"/>
          <p:cNvSpPr txBox="1"/>
          <p:nvPr/>
        </p:nvSpPr>
        <p:spPr>
          <a:xfrm>
            <a:off x="5688118" y="1447800"/>
            <a:ext cx="6500707" cy="1447800"/>
          </a:xfrm>
          <a:prstGeom prst="rect">
            <a:avLst/>
          </a:prstGeom>
          <a:noFill/>
          <a:ln/>
        </p:spPr>
        <p:txBody>
          <a:bodyPr wrap="square" lIns="0" tIns="0" rIns="0" bIns="0" rtlCol="0" anchor="ctr"/>
          <a:lstStyle/>
          <a:p>
            <a:pPr marL="0" indent="0">
              <a:lnSpc>
                <a:spcPct val="130000"/>
              </a:lnSpc>
              <a:buNone/>
            </a:pPr>
            <a:r>
              <a:rPr lang="en-US" sz="1450" dirty="0">
                <a:solidFill>
                  <a:srgbClr val="262626"/>
                </a:solidFill>
                <a:latin typeface="Calibri" pitchFamily="34" charset="0"/>
                <a:ea typeface="Calibri" pitchFamily="34" charset="-122"/>
                <a:cs typeface="Calibri" pitchFamily="34" charset="-120"/>
              </a:rPr>
              <a:t>A Pearson correlation of just 0.059 between Average Cost for Two and Rating shows a very weak positive relationship across the full cleaned dataset. In plain terms: charging more does not meaningfully buy a better rating.</a:t>
            </a:r>
            <a:endParaRPr lang="en-US" sz="1450" dirty="0"/>
          </a:p>
        </p:txBody>
      </p:sp>
      <p:sp>
        <p:nvSpPr>
          <p:cNvPr id="20" name="Text 6"/>
          <p:cNvSpPr txBox="1"/>
          <p:nvPr/>
        </p:nvSpPr>
        <p:spPr>
          <a:xfrm>
            <a:off x="5789692" y="3063240"/>
            <a:ext cx="6399133" cy="320040"/>
          </a:xfrm>
          <a:prstGeom prst="rect">
            <a:avLst/>
          </a:prstGeom>
          <a:noFill/>
          <a:ln/>
        </p:spPr>
        <p:txBody>
          <a:bodyPr wrap="square" lIns="0" tIns="0" rIns="0" bIns="0"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Price-range mix in the shortlisted markets</a:t>
            </a:r>
            <a:endParaRPr lang="en-US" sz="1300" dirty="0"/>
          </a:p>
        </p:txBody>
      </p:sp>
      <p:sp>
        <p:nvSpPr>
          <p:cNvPr id="21" name="Shape 7"/>
          <p:cNvSpPr/>
          <p:nvPr/>
        </p:nvSpPr>
        <p:spPr>
          <a:xfrm>
            <a:off x="6216301" y="4123944"/>
            <a:ext cx="121888" cy="91440"/>
          </a:xfrm>
          <a:prstGeom prst="ellipse">
            <a:avLst/>
          </a:prstGeom>
          <a:solidFill>
            <a:srgbClr val="E23744"/>
          </a:solidFill>
          <a:ln/>
        </p:spPr>
      </p:sp>
      <p:sp>
        <p:nvSpPr>
          <p:cNvPr id="22" name="Text 8"/>
          <p:cNvSpPr txBox="1"/>
          <p:nvPr/>
        </p:nvSpPr>
        <p:spPr>
          <a:xfrm>
            <a:off x="6521021" y="4014216"/>
            <a:ext cx="1828324" cy="274320"/>
          </a:xfrm>
          <a:prstGeom prst="rect">
            <a:avLst/>
          </a:prstGeom>
          <a:noFill/>
          <a:ln/>
        </p:spPr>
        <p:txBody>
          <a:bodyPr wrap="square" lIns="0" tIns="0" rIns="0" bIns="0" rtlCol="0" anchor="t"/>
          <a:lstStyle/>
          <a:p>
            <a:pPr marL="0" indent="0">
              <a:buNone/>
            </a:pPr>
            <a:r>
              <a:rPr lang="en-US" sz="1250" b="1" dirty="0">
                <a:solidFill>
                  <a:srgbClr val="262626"/>
                </a:solidFill>
                <a:latin typeface="Calibri" pitchFamily="34" charset="0"/>
                <a:ea typeface="Calibri" pitchFamily="34" charset="-122"/>
                <a:cs typeface="Calibri" pitchFamily="34" charset="-120"/>
              </a:rPr>
              <a:t>Qatar:</a:t>
            </a:r>
            <a:endParaRPr lang="en-US" sz="1250" dirty="0"/>
          </a:p>
        </p:txBody>
      </p:sp>
      <p:sp>
        <p:nvSpPr>
          <p:cNvPr id="23" name="Text 9"/>
          <p:cNvSpPr txBox="1"/>
          <p:nvPr/>
        </p:nvSpPr>
        <p:spPr>
          <a:xfrm>
            <a:off x="7435183" y="4005716"/>
            <a:ext cx="7191407" cy="274320"/>
          </a:xfrm>
          <a:prstGeom prst="rect">
            <a:avLst/>
          </a:prstGeom>
          <a:noFill/>
          <a:ln/>
        </p:spPr>
        <p:txBody>
          <a:bodyPr wrap="square" lIns="0" tIns="0" rIns="0" bIns="0" rtlCol="0" anchor="t"/>
          <a:lstStyle/>
          <a:p>
            <a:pPr marL="0" indent="0">
              <a:buNone/>
            </a:pPr>
            <a:r>
              <a:rPr lang="en-US" sz="1200" dirty="0">
                <a:solidFill>
                  <a:srgbClr val="262626"/>
                </a:solidFill>
                <a:latin typeface="Calibri" pitchFamily="34" charset="0"/>
                <a:ea typeface="Calibri" pitchFamily="34" charset="-122"/>
                <a:cs typeface="Calibri" pitchFamily="34" charset="-120"/>
              </a:rPr>
              <a:t>14 / 20 restaurants sit in Price Range 4 (premium-heavy)</a:t>
            </a:r>
            <a:endParaRPr lang="en-US" sz="1200" dirty="0"/>
          </a:p>
        </p:txBody>
      </p:sp>
      <p:sp>
        <p:nvSpPr>
          <p:cNvPr id="24" name="Shape 10"/>
          <p:cNvSpPr/>
          <p:nvPr/>
        </p:nvSpPr>
        <p:spPr>
          <a:xfrm>
            <a:off x="6216301" y="4654296"/>
            <a:ext cx="121888" cy="91440"/>
          </a:xfrm>
          <a:prstGeom prst="ellipse">
            <a:avLst/>
          </a:prstGeom>
          <a:solidFill>
            <a:srgbClr val="E23744"/>
          </a:solidFill>
          <a:ln/>
        </p:spPr>
      </p:sp>
      <p:sp>
        <p:nvSpPr>
          <p:cNvPr id="25" name="Text 11"/>
          <p:cNvSpPr txBox="1"/>
          <p:nvPr/>
        </p:nvSpPr>
        <p:spPr>
          <a:xfrm>
            <a:off x="6521021" y="4544568"/>
            <a:ext cx="1828324" cy="274320"/>
          </a:xfrm>
          <a:prstGeom prst="rect">
            <a:avLst/>
          </a:prstGeom>
          <a:noFill/>
          <a:ln/>
        </p:spPr>
        <p:txBody>
          <a:bodyPr wrap="square" lIns="0" tIns="0" rIns="0" bIns="0" rtlCol="0" anchor="t"/>
          <a:lstStyle/>
          <a:p>
            <a:pPr marL="0" indent="0">
              <a:buNone/>
            </a:pPr>
            <a:r>
              <a:rPr lang="en-US" sz="1250" b="1" dirty="0">
                <a:solidFill>
                  <a:srgbClr val="262626"/>
                </a:solidFill>
                <a:latin typeface="Calibri" pitchFamily="34" charset="0"/>
                <a:ea typeface="Calibri" pitchFamily="34" charset="-122"/>
                <a:cs typeface="Calibri" pitchFamily="34" charset="-120"/>
              </a:rPr>
              <a:t>Turkey:</a:t>
            </a:r>
            <a:endParaRPr lang="en-US" sz="1250" dirty="0"/>
          </a:p>
        </p:txBody>
      </p:sp>
      <p:sp>
        <p:nvSpPr>
          <p:cNvPr id="26" name="Text 12"/>
          <p:cNvSpPr txBox="1"/>
          <p:nvPr/>
        </p:nvSpPr>
        <p:spPr>
          <a:xfrm>
            <a:off x="7439475" y="4517136"/>
            <a:ext cx="7191407" cy="274320"/>
          </a:xfrm>
          <a:prstGeom prst="rect">
            <a:avLst/>
          </a:prstGeom>
          <a:noFill/>
          <a:ln/>
        </p:spPr>
        <p:txBody>
          <a:bodyPr wrap="square" lIns="0" tIns="0" rIns="0" bIns="0" rtlCol="0" anchor="t"/>
          <a:lstStyle/>
          <a:p>
            <a:pPr marL="0" indent="0">
              <a:buNone/>
            </a:pPr>
            <a:r>
              <a:rPr lang="en-US" sz="1200" dirty="0">
                <a:solidFill>
                  <a:srgbClr val="262626"/>
                </a:solidFill>
                <a:latin typeface="Calibri" pitchFamily="34" charset="0"/>
                <a:ea typeface="Calibri" pitchFamily="34" charset="-122"/>
                <a:cs typeface="Calibri" pitchFamily="34" charset="-120"/>
              </a:rPr>
              <a:t>18 / 34 in Range 3, 5 in Range 4</a:t>
            </a:r>
            <a:endParaRPr lang="en-US" sz="1200" dirty="0"/>
          </a:p>
        </p:txBody>
      </p:sp>
      <p:sp>
        <p:nvSpPr>
          <p:cNvPr id="27" name="Shape 13"/>
          <p:cNvSpPr/>
          <p:nvPr/>
        </p:nvSpPr>
        <p:spPr>
          <a:xfrm>
            <a:off x="6216301" y="5184648"/>
            <a:ext cx="121888" cy="91440"/>
          </a:xfrm>
          <a:prstGeom prst="ellipse">
            <a:avLst/>
          </a:prstGeom>
          <a:solidFill>
            <a:srgbClr val="E23744"/>
          </a:solidFill>
          <a:ln/>
        </p:spPr>
      </p:sp>
      <p:sp>
        <p:nvSpPr>
          <p:cNvPr id="28" name="Text 14"/>
          <p:cNvSpPr txBox="1"/>
          <p:nvPr/>
        </p:nvSpPr>
        <p:spPr>
          <a:xfrm>
            <a:off x="6521021" y="5074920"/>
            <a:ext cx="1828324" cy="274320"/>
          </a:xfrm>
          <a:prstGeom prst="rect">
            <a:avLst/>
          </a:prstGeom>
          <a:noFill/>
          <a:ln/>
        </p:spPr>
        <p:txBody>
          <a:bodyPr wrap="square" lIns="0" tIns="0" rIns="0" bIns="0" rtlCol="0" anchor="t"/>
          <a:lstStyle/>
          <a:p>
            <a:pPr marL="0" indent="0">
              <a:buNone/>
            </a:pPr>
            <a:r>
              <a:rPr lang="en-US" sz="1250" b="1" dirty="0">
                <a:solidFill>
                  <a:srgbClr val="262626"/>
                </a:solidFill>
                <a:latin typeface="Calibri" pitchFamily="34" charset="0"/>
                <a:ea typeface="Calibri" pitchFamily="34" charset="-122"/>
                <a:cs typeface="Calibri" pitchFamily="34" charset="-120"/>
              </a:rPr>
              <a:t>New Zealand:</a:t>
            </a:r>
            <a:endParaRPr lang="en-US" sz="1250" dirty="0"/>
          </a:p>
        </p:txBody>
      </p:sp>
      <p:sp>
        <p:nvSpPr>
          <p:cNvPr id="29" name="Text 15"/>
          <p:cNvSpPr txBox="1"/>
          <p:nvPr/>
        </p:nvSpPr>
        <p:spPr>
          <a:xfrm>
            <a:off x="7821163" y="5047488"/>
            <a:ext cx="7191407" cy="274320"/>
          </a:xfrm>
          <a:prstGeom prst="rect">
            <a:avLst/>
          </a:prstGeom>
          <a:noFill/>
          <a:ln/>
        </p:spPr>
        <p:txBody>
          <a:bodyPr wrap="square" lIns="0" tIns="0" rIns="0" bIns="0" rtlCol="0" anchor="t"/>
          <a:lstStyle/>
          <a:p>
            <a:pPr marL="0" indent="0">
              <a:buNone/>
            </a:pPr>
            <a:r>
              <a:rPr lang="en-US" sz="1200" dirty="0">
                <a:solidFill>
                  <a:srgbClr val="262626"/>
                </a:solidFill>
                <a:latin typeface="Calibri" pitchFamily="34" charset="0"/>
                <a:ea typeface="Calibri" pitchFamily="34" charset="-122"/>
                <a:cs typeface="Calibri" pitchFamily="34" charset="-120"/>
              </a:rPr>
              <a:t>17 in Range 3, 16 in Range 4 (broadest mix)</a:t>
            </a:r>
            <a:endParaRPr lang="en-US" sz="1200" dirty="0"/>
          </a:p>
        </p:txBody>
      </p:sp>
    </p:spTree>
    <p:extLst>
      <p:ext uri="{BB962C8B-B14F-4D97-AF65-F5344CB8AC3E}">
        <p14:creationId xmlns:p14="http://schemas.microsoft.com/office/powerpoint/2010/main" val="40375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0"/>
          <p:cNvSpPr/>
          <p:nvPr/>
        </p:nvSpPr>
        <p:spPr>
          <a:xfrm>
            <a:off x="9447212" y="-784968"/>
            <a:ext cx="3757348" cy="3528168"/>
          </a:xfrm>
          <a:prstGeom prst="ellipse">
            <a:avLst/>
          </a:prstGeom>
          <a:solidFill>
            <a:srgbClr val="2A2A30"/>
          </a:solidFill>
          <a:ln/>
        </p:spPr>
      </p:sp>
      <p:sp>
        <p:nvSpPr>
          <p:cNvPr id="6" name="Text 1"/>
          <p:cNvSpPr txBox="1"/>
          <p:nvPr/>
        </p:nvSpPr>
        <p:spPr>
          <a:xfrm>
            <a:off x="67955" y="502920"/>
            <a:ext cx="7313295" cy="320040"/>
          </a:xfrm>
          <a:prstGeom prst="rect">
            <a:avLst/>
          </a:prstGeom>
          <a:noFill/>
          <a:ln/>
        </p:spPr>
        <p:txBody>
          <a:bodyPr wrap="square" lIns="0" tIns="0" rIns="0" bIns="0" rtlCol="0" anchor="ctr"/>
          <a:lstStyle/>
          <a:p>
            <a:pPr marL="0" indent="0">
              <a:buNone/>
            </a:pPr>
            <a:r>
              <a:rPr lang="en-US" sz="1200" b="1" kern="0" spc="200" dirty="0">
                <a:solidFill>
                  <a:srgbClr val="F4B942"/>
                </a:solidFill>
                <a:latin typeface="Calibri" pitchFamily="34" charset="0"/>
                <a:ea typeface="Calibri" pitchFamily="34" charset="-122"/>
                <a:cs typeface="Calibri" pitchFamily="34" charset="-120"/>
              </a:rPr>
              <a:t>RECOMMENDATIONS</a:t>
            </a:r>
            <a:endParaRPr lang="en-US" sz="1200" dirty="0"/>
          </a:p>
        </p:txBody>
      </p:sp>
      <p:sp>
        <p:nvSpPr>
          <p:cNvPr id="7" name="Text 2"/>
          <p:cNvSpPr txBox="1"/>
          <p:nvPr/>
        </p:nvSpPr>
        <p:spPr>
          <a:xfrm>
            <a:off x="0" y="868680"/>
            <a:ext cx="13001413"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Enter Qatar, Turkey and New Zealand — in that order</a:t>
            </a:r>
            <a:endParaRPr lang="en-US" sz="3200" dirty="0"/>
          </a:p>
        </p:txBody>
      </p:sp>
      <p:sp>
        <p:nvSpPr>
          <p:cNvPr id="8" name="Text 3"/>
          <p:cNvSpPr txBox="1"/>
          <p:nvPr/>
        </p:nvSpPr>
        <p:spPr>
          <a:xfrm>
            <a:off x="101574" y="1836205"/>
            <a:ext cx="12087251" cy="502920"/>
          </a:xfrm>
          <a:prstGeom prst="rect">
            <a:avLst/>
          </a:prstGeom>
          <a:noFill/>
          <a:ln/>
        </p:spPr>
        <p:txBody>
          <a:bodyPr wrap="square" lIns="0" tIns="0" rIns="0" bIns="0" rtlCol="0" anchor="ctr"/>
          <a:lstStyle/>
          <a:p>
            <a:pPr marL="0" indent="0">
              <a:lnSpc>
                <a:spcPct val="125000"/>
              </a:lnSpc>
              <a:buNone/>
            </a:pPr>
            <a:r>
              <a:rPr lang="en-US" sz="1600" dirty="0">
                <a:solidFill>
                  <a:srgbClr val="D8D5D2"/>
                </a:solidFill>
                <a:latin typeface="Calibri" pitchFamily="34" charset="0"/>
                <a:ea typeface="Calibri" pitchFamily="34" charset="-122"/>
                <a:cs typeface="Calibri" pitchFamily="34" charset="-120"/>
              </a:rPr>
              <a:t>These three markets combine the lowest observed competition with above-benchmark ratings and enough listings to make the comparison meaningful.</a:t>
            </a:r>
            <a:endParaRPr lang="en-US" sz="1600" dirty="0"/>
          </a:p>
        </p:txBody>
      </p:sp>
    </p:spTree>
    <p:extLst>
      <p:ext uri="{BB962C8B-B14F-4D97-AF65-F5344CB8AC3E}">
        <p14:creationId xmlns:p14="http://schemas.microsoft.com/office/powerpoint/2010/main" val="750206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06294" y="374775"/>
            <a:ext cx="7313295" cy="320040"/>
          </a:xfrm>
          <a:prstGeom prst="rect">
            <a:avLst/>
          </a:prstGeom>
          <a:noFill/>
          <a:ln/>
        </p:spPr>
        <p:txBody>
          <a:bodyPr wrap="square" lIns="0" tIns="0" rIns="0" bIns="0" rtlCol="0" anchor="ctr"/>
          <a:lstStyle/>
          <a:p>
            <a:pPr marL="0" indent="0">
              <a:buNone/>
            </a:pPr>
            <a:r>
              <a:rPr lang="en-US" sz="1200" b="1" kern="0" spc="200">
                <a:solidFill>
                  <a:srgbClr val="FFC000"/>
                </a:solidFill>
                <a:highlight>
                  <a:srgbClr val="000000"/>
                </a:highlight>
                <a:latin typeface="Calibri" pitchFamily="34" charset="0"/>
                <a:ea typeface="Calibri" pitchFamily="34" charset="-122"/>
                <a:cs typeface="Calibri" pitchFamily="34" charset="-120"/>
              </a:rPr>
              <a:t>COCLUSION</a:t>
            </a:r>
            <a:endParaRPr lang="en-US" sz="1200" dirty="0">
              <a:solidFill>
                <a:srgbClr val="FFC000"/>
              </a:solidFill>
              <a:highlight>
                <a:srgbClr val="000000"/>
              </a:highlight>
            </a:endParaRPr>
          </a:p>
        </p:txBody>
      </p:sp>
      <p:sp>
        <p:nvSpPr>
          <p:cNvPr id="3" name="Text 2"/>
          <p:cNvSpPr txBox="1"/>
          <p:nvPr/>
        </p:nvSpPr>
        <p:spPr>
          <a:xfrm>
            <a:off x="406295" y="1211580"/>
            <a:ext cx="11549341" cy="777240"/>
          </a:xfrm>
          <a:prstGeom prst="rect">
            <a:avLst/>
          </a:prstGeom>
          <a:noFill/>
          <a:ln/>
        </p:spPr>
        <p:txBody>
          <a:bodyPr wrap="square" lIns="0" tIns="0" rIns="0" bIns="0" rtlCol="0" anchor="ctr"/>
          <a:lstStyle/>
          <a:p>
            <a:pPr marL="0" indent="0">
              <a:buNone/>
            </a:pPr>
            <a:r>
              <a:rPr lang="en-US" sz="3000" b="1" dirty="0">
                <a:solidFill>
                  <a:schemeClr val="bg1"/>
                </a:solidFill>
                <a:highlight>
                  <a:srgbClr val="000000"/>
                </a:highlight>
                <a:latin typeface="Cambria" pitchFamily="34" charset="0"/>
                <a:ea typeface="Cambria" pitchFamily="34" charset="-122"/>
                <a:cs typeface="Cambria" pitchFamily="34" charset="-120"/>
              </a:rPr>
              <a:t>A disciplined, data-backed path to Zomato's next markets</a:t>
            </a:r>
            <a:endParaRPr lang="en-US" sz="3000" dirty="0">
              <a:solidFill>
                <a:schemeClr val="bg1"/>
              </a:solidFill>
              <a:highlight>
                <a:srgbClr val="000000"/>
              </a:highlight>
            </a:endParaRPr>
          </a:p>
        </p:txBody>
      </p:sp>
      <p:sp>
        <p:nvSpPr>
          <p:cNvPr id="4" name="Text 3"/>
          <p:cNvSpPr txBox="1"/>
          <p:nvPr/>
        </p:nvSpPr>
        <p:spPr>
          <a:xfrm>
            <a:off x="406295" y="2438400"/>
            <a:ext cx="11549341" cy="502920"/>
          </a:xfrm>
          <a:prstGeom prst="rect">
            <a:avLst/>
          </a:prstGeom>
          <a:noFill/>
          <a:ln/>
        </p:spPr>
        <p:txBody>
          <a:bodyPr wrap="square" lIns="0" tIns="0" rIns="0" bIns="0" rtlCol="0" anchor="ctr"/>
          <a:lstStyle/>
          <a:p>
            <a:pPr marL="0" indent="0">
              <a:lnSpc>
                <a:spcPct val="125000"/>
              </a:lnSpc>
              <a:buNone/>
            </a:pPr>
            <a:r>
              <a:rPr lang="en-US" sz="2400" dirty="0">
                <a:solidFill>
                  <a:srgbClr val="D8D5D2"/>
                </a:solidFill>
                <a:latin typeface="Calibri" pitchFamily="34" charset="0"/>
                <a:ea typeface="Calibri" pitchFamily="34" charset="-122"/>
                <a:cs typeface="Calibri" pitchFamily="34" charset="-120"/>
              </a:rPr>
              <a:t>Fifteen countries, 9,551 listings and a seven-step framework all point the same direction: growth no longer comes from fighting harder in India, but from entering the right markets in the right order. Qatar, Turkey and New Zealand clear the bar on both competition and quality — a shortlist management can act on with confidence.</a:t>
            </a:r>
            <a:endParaRPr lang="en-US" sz="2400" dirty="0"/>
          </a:p>
        </p:txBody>
      </p:sp>
    </p:spTree>
    <p:extLst>
      <p:ext uri="{BB962C8B-B14F-4D97-AF65-F5344CB8AC3E}">
        <p14:creationId xmlns:p14="http://schemas.microsoft.com/office/powerpoint/2010/main" val="2147520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209</TotalTime>
  <Words>1995</Words>
  <Application>Microsoft Office PowerPoint</Application>
  <PresentationFormat>Custom</PresentationFormat>
  <Paragraphs>187</Paragraphs>
  <Slides>19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Wingdings</vt:lpstr>
      <vt:lpstr>Office Theme</vt:lpstr>
      <vt:lpstr>PowerPoint Presentation</vt:lpstr>
      <vt:lpstr>PowerPoint Presentation</vt:lpstr>
      <vt:lpstr>PowerPoint Presentation</vt:lpstr>
      <vt:lpstr>Choosing the next markets   for new restaurant openings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the next markets   for new restaurant openings</dc:title>
  <dc:creator>Windows User</dc:creator>
  <cp:lastModifiedBy>Vikas Roy</cp:lastModifiedBy>
  <cp:revision>16</cp:revision>
  <dcterms:created xsi:type="dcterms:W3CDTF">2026-09-17T11:48:03Z</dcterms:created>
  <dcterms:modified xsi:type="dcterms:W3CDTF">2026-10-04T06:09:24Z</dcterms:modified>
</cp:coreProperties>
</file>